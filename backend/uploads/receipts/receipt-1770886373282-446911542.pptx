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76" r:id="rId2"/>
    <p:sldId id="258" r:id="rId3"/>
    <p:sldId id="391" r:id="rId4"/>
    <p:sldId id="260" r:id="rId5"/>
    <p:sldId id="262" r:id="rId6"/>
    <p:sldId id="264" r:id="rId7"/>
    <p:sldId id="267" r:id="rId8"/>
    <p:sldId id="268" r:id="rId9"/>
    <p:sldId id="269" r:id="rId10"/>
    <p:sldId id="385" r:id="rId11"/>
    <p:sldId id="270" r:id="rId12"/>
    <p:sldId id="386" r:id="rId13"/>
    <p:sldId id="271" r:id="rId14"/>
    <p:sldId id="272" r:id="rId15"/>
    <p:sldId id="387" r:id="rId16"/>
    <p:sldId id="273" r:id="rId17"/>
    <p:sldId id="275" r:id="rId18"/>
    <p:sldId id="257" r:id="rId19"/>
    <p:sldId id="265" r:id="rId20"/>
    <p:sldId id="277" r:id="rId21"/>
    <p:sldId id="378" r:id="rId22"/>
    <p:sldId id="379" r:id="rId23"/>
    <p:sldId id="380" r:id="rId24"/>
    <p:sldId id="381" r:id="rId25"/>
    <p:sldId id="382" r:id="rId26"/>
    <p:sldId id="286" r:id="rId27"/>
    <p:sldId id="383" r:id="rId28"/>
    <p:sldId id="388" r:id="rId29"/>
    <p:sldId id="389" r:id="rId30"/>
    <p:sldId id="390" r:id="rId31"/>
    <p:sldId id="384" r:id="rId32"/>
    <p:sldId id="312" r:id="rId33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3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93767E-8B42-4DFB-81BC-F77A7FC2928A}" v="13" dt="2025-02-18T06:53:16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38" autoAdjust="0"/>
    <p:restoredTop sz="94804"/>
  </p:normalViewPr>
  <p:slideViewPr>
    <p:cSldViewPr snapToGrid="0">
      <p:cViewPr varScale="1">
        <p:scale>
          <a:sx n="85" d="100"/>
          <a:sy n="85" d="100"/>
        </p:scale>
        <p:origin x="176" y="680"/>
      </p:cViewPr>
      <p:guideLst>
        <p:guide orient="horz" pos="2160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5" d="100"/>
          <a:sy n="115" d="100"/>
        </p:scale>
        <p:origin x="24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mwang" userId="b02993be-1ffa-4cbd-93eb-47a955142a90" providerId="ADAL" clId="{F793767E-8B42-4DFB-81BC-F77A7FC2928A}"/>
    <pc:docChg chg="undo custSel modSld">
      <pc:chgData name="wmwang" userId="b02993be-1ffa-4cbd-93eb-47a955142a90" providerId="ADAL" clId="{F793767E-8B42-4DFB-81BC-F77A7FC2928A}" dt="2025-02-18T07:05:50.414" v="317" actId="20577"/>
      <pc:docMkLst>
        <pc:docMk/>
      </pc:docMkLst>
      <pc:sldChg chg="modSp mod">
        <pc:chgData name="wmwang" userId="b02993be-1ffa-4cbd-93eb-47a955142a90" providerId="ADAL" clId="{F793767E-8B42-4DFB-81BC-F77A7FC2928A}" dt="2025-02-18T06:03:59.218" v="0" actId="20577"/>
        <pc:sldMkLst>
          <pc:docMk/>
          <pc:sldMk cId="0" sldId="257"/>
        </pc:sldMkLst>
        <pc:spChg chg="mod">
          <ac:chgData name="wmwang" userId="b02993be-1ffa-4cbd-93eb-47a955142a90" providerId="ADAL" clId="{F793767E-8B42-4DFB-81BC-F77A7FC2928A}" dt="2025-02-18T06:03:59.218" v="0" actId="20577"/>
          <ac:spMkLst>
            <pc:docMk/>
            <pc:sldMk cId="0" sldId="257"/>
            <ac:spMk id="6147" creationId="{00000000-0000-0000-0000-000000000000}"/>
          </ac:spMkLst>
        </pc:spChg>
      </pc:sldChg>
      <pc:sldChg chg="addSp delSp modSp mod">
        <pc:chgData name="wmwang" userId="b02993be-1ffa-4cbd-93eb-47a955142a90" providerId="ADAL" clId="{F793767E-8B42-4DFB-81BC-F77A7FC2928A}" dt="2025-02-18T06:53:31.145" v="314" actId="1035"/>
        <pc:sldMkLst>
          <pc:docMk/>
          <pc:sldMk cId="0" sldId="265"/>
        </pc:sldMkLst>
        <pc:spChg chg="del">
          <ac:chgData name="wmwang" userId="b02993be-1ffa-4cbd-93eb-47a955142a90" providerId="ADAL" clId="{F793767E-8B42-4DFB-81BC-F77A7FC2928A}" dt="2025-02-18T06:41:49.804" v="60" actId="478"/>
          <ac:spMkLst>
            <pc:docMk/>
            <pc:sldMk cId="0" sldId="265"/>
            <ac:spMk id="2" creationId="{9AF78472-719F-4624-BF2C-945DDD26A7AF}"/>
          </ac:spMkLst>
        </pc:spChg>
        <pc:spChg chg="add mod">
          <ac:chgData name="wmwang" userId="b02993be-1ffa-4cbd-93eb-47a955142a90" providerId="ADAL" clId="{F793767E-8B42-4DFB-81BC-F77A7FC2928A}" dt="2025-02-18T06:53:31.145" v="314" actId="1035"/>
          <ac:spMkLst>
            <pc:docMk/>
            <pc:sldMk cId="0" sldId="265"/>
            <ac:spMk id="3" creationId="{F981A299-517D-7340-832C-9A9DD43C4310}"/>
          </ac:spMkLst>
        </pc:spChg>
        <pc:spChg chg="del">
          <ac:chgData name="wmwang" userId="b02993be-1ffa-4cbd-93eb-47a955142a90" providerId="ADAL" clId="{F793767E-8B42-4DFB-81BC-F77A7FC2928A}" dt="2025-02-18T06:41:46.955" v="59" actId="478"/>
          <ac:spMkLst>
            <pc:docMk/>
            <pc:sldMk cId="0" sldId="265"/>
            <ac:spMk id="7" creationId="{9E9F6C84-F94E-488B-8F3B-F941780AE93F}"/>
          </ac:spMkLst>
        </pc:spChg>
        <pc:spChg chg="del">
          <ac:chgData name="wmwang" userId="b02993be-1ffa-4cbd-93eb-47a955142a90" providerId="ADAL" clId="{F793767E-8B42-4DFB-81BC-F77A7FC2928A}" dt="2025-02-18T06:41:46.955" v="59" actId="478"/>
          <ac:spMkLst>
            <pc:docMk/>
            <pc:sldMk cId="0" sldId="265"/>
            <ac:spMk id="8" creationId="{74C5DD99-F918-4A64-BD59-878132D04DEF}"/>
          </ac:spMkLst>
        </pc:spChg>
        <pc:spChg chg="del">
          <ac:chgData name="wmwang" userId="b02993be-1ffa-4cbd-93eb-47a955142a90" providerId="ADAL" clId="{F793767E-8B42-4DFB-81BC-F77A7FC2928A}" dt="2025-02-18T06:41:12.065" v="53" actId="478"/>
          <ac:spMkLst>
            <pc:docMk/>
            <pc:sldMk cId="0" sldId="265"/>
            <ac:spMk id="9" creationId="{A804683E-31B7-449E-880C-0E81D790D28D}"/>
          </ac:spMkLst>
        </pc:spChg>
        <pc:spChg chg="del">
          <ac:chgData name="wmwang" userId="b02993be-1ffa-4cbd-93eb-47a955142a90" providerId="ADAL" clId="{F793767E-8B42-4DFB-81BC-F77A7FC2928A}" dt="2025-02-18T06:41:15.462" v="54" actId="478"/>
          <ac:spMkLst>
            <pc:docMk/>
            <pc:sldMk cId="0" sldId="265"/>
            <ac:spMk id="10" creationId="{A0B9F036-4659-45B7-820D-497661BC25AA}"/>
          </ac:spMkLst>
        </pc:spChg>
        <pc:spChg chg="add mod">
          <ac:chgData name="wmwang" userId="b02993be-1ffa-4cbd-93eb-47a955142a90" providerId="ADAL" clId="{F793767E-8B42-4DFB-81BC-F77A7FC2928A}" dt="2025-02-18T06:53:31.145" v="314" actId="1035"/>
          <ac:spMkLst>
            <pc:docMk/>
            <pc:sldMk cId="0" sldId="265"/>
            <ac:spMk id="11" creationId="{03B2B2C7-DAE6-E0D3-B38D-F15B9E778D46}"/>
          </ac:spMkLst>
        </pc:spChg>
        <pc:spChg chg="add mod">
          <ac:chgData name="wmwang" userId="b02993be-1ffa-4cbd-93eb-47a955142a90" providerId="ADAL" clId="{F793767E-8B42-4DFB-81BC-F77A7FC2928A}" dt="2025-02-18T06:53:31.145" v="314" actId="1035"/>
          <ac:spMkLst>
            <pc:docMk/>
            <pc:sldMk cId="0" sldId="265"/>
            <ac:spMk id="12" creationId="{79FF01C2-8C9E-FEC7-398B-D67E051FCA3E}"/>
          </ac:spMkLst>
        </pc:spChg>
        <pc:spChg chg="add mod">
          <ac:chgData name="wmwang" userId="b02993be-1ffa-4cbd-93eb-47a955142a90" providerId="ADAL" clId="{F793767E-8B42-4DFB-81BC-F77A7FC2928A}" dt="2025-02-18T06:53:31.145" v="314" actId="1035"/>
          <ac:spMkLst>
            <pc:docMk/>
            <pc:sldMk cId="0" sldId="265"/>
            <ac:spMk id="13" creationId="{59988DC9-789D-264E-DBD7-A5A64536AEA5}"/>
          </ac:spMkLst>
        </pc:spChg>
        <pc:spChg chg="add mod">
          <ac:chgData name="wmwang" userId="b02993be-1ffa-4cbd-93eb-47a955142a90" providerId="ADAL" clId="{F793767E-8B42-4DFB-81BC-F77A7FC2928A}" dt="2025-02-18T06:53:31.145" v="314" actId="1035"/>
          <ac:spMkLst>
            <pc:docMk/>
            <pc:sldMk cId="0" sldId="265"/>
            <ac:spMk id="14" creationId="{634C68C9-3518-86B2-2662-D30C20BE65C7}"/>
          </ac:spMkLst>
        </pc:spChg>
        <pc:cxnChg chg="del mod">
          <ac:chgData name="wmwang" userId="b02993be-1ffa-4cbd-93eb-47a955142a90" providerId="ADAL" clId="{F793767E-8B42-4DFB-81BC-F77A7FC2928A}" dt="2025-02-18T06:41:46.955" v="59" actId="478"/>
          <ac:cxnSpMkLst>
            <pc:docMk/>
            <pc:sldMk cId="0" sldId="265"/>
            <ac:cxnSpMk id="4" creationId="{FC310FCC-AC9C-42AB-A84D-6BD012FEA7CB}"/>
          </ac:cxnSpMkLst>
        </pc:cxnChg>
        <pc:cxnChg chg="del mod">
          <ac:chgData name="wmwang" userId="b02993be-1ffa-4cbd-93eb-47a955142a90" providerId="ADAL" clId="{F793767E-8B42-4DFB-81BC-F77A7FC2928A}" dt="2025-02-18T06:41:46.955" v="59" actId="478"/>
          <ac:cxnSpMkLst>
            <pc:docMk/>
            <pc:sldMk cId="0" sldId="265"/>
            <ac:cxnSpMk id="16" creationId="{8A079F0C-CC31-4996-A373-F4FEF7CFF63C}"/>
          </ac:cxnSpMkLst>
        </pc:cxnChg>
        <pc:cxnChg chg="add del mod">
          <ac:chgData name="wmwang" userId="b02993be-1ffa-4cbd-93eb-47a955142a90" providerId="ADAL" clId="{F793767E-8B42-4DFB-81BC-F77A7FC2928A}" dt="2025-02-18T06:48:04.401" v="157" actId="478"/>
          <ac:cxnSpMkLst>
            <pc:docMk/>
            <pc:sldMk cId="0" sldId="265"/>
            <ac:cxnSpMk id="17" creationId="{8966BA13-2E05-4D10-FA87-90525EB112F2}"/>
          </ac:cxnSpMkLst>
        </pc:cxnChg>
        <pc:cxnChg chg="del mod">
          <ac:chgData name="wmwang" userId="b02993be-1ffa-4cbd-93eb-47a955142a90" providerId="ADAL" clId="{F793767E-8B42-4DFB-81BC-F77A7FC2928A}" dt="2025-02-18T06:41:29.509" v="56" actId="478"/>
          <ac:cxnSpMkLst>
            <pc:docMk/>
            <pc:sldMk cId="0" sldId="265"/>
            <ac:cxnSpMk id="19" creationId="{413C77F7-DC0A-42CC-A5B2-263DCAB62388}"/>
          </ac:cxnSpMkLst>
        </pc:cxnChg>
        <pc:cxnChg chg="del mod">
          <ac:chgData name="wmwang" userId="b02993be-1ffa-4cbd-93eb-47a955142a90" providerId="ADAL" clId="{F793767E-8B42-4DFB-81BC-F77A7FC2928A}" dt="2025-02-18T06:41:29.509" v="56" actId="478"/>
          <ac:cxnSpMkLst>
            <pc:docMk/>
            <pc:sldMk cId="0" sldId="265"/>
            <ac:cxnSpMk id="22" creationId="{78C05E62-F812-4357-9E71-CCD88B6E70CC}"/>
          </ac:cxnSpMkLst>
        </pc:cxnChg>
        <pc:cxnChg chg="add del mod">
          <ac:chgData name="wmwang" userId="b02993be-1ffa-4cbd-93eb-47a955142a90" providerId="ADAL" clId="{F793767E-8B42-4DFB-81BC-F77A7FC2928A}" dt="2025-02-18T06:48:17.794" v="159" actId="478"/>
          <ac:cxnSpMkLst>
            <pc:docMk/>
            <pc:sldMk cId="0" sldId="265"/>
            <ac:cxnSpMk id="24" creationId="{30CE4644-4783-CF16-14BA-3CEA6D6C58BF}"/>
          </ac:cxnSpMkLst>
        </pc:cxnChg>
        <pc:cxnChg chg="add mod">
          <ac:chgData name="wmwang" userId="b02993be-1ffa-4cbd-93eb-47a955142a90" providerId="ADAL" clId="{F793767E-8B42-4DFB-81BC-F77A7FC2928A}" dt="2025-02-18T06:53:31.145" v="314" actId="1035"/>
          <ac:cxnSpMkLst>
            <pc:docMk/>
            <pc:sldMk cId="0" sldId="265"/>
            <ac:cxnSpMk id="29" creationId="{096740B3-DA83-CCD6-814E-071323DE8D9C}"/>
          </ac:cxnSpMkLst>
        </pc:cxnChg>
        <pc:cxnChg chg="add mod">
          <ac:chgData name="wmwang" userId="b02993be-1ffa-4cbd-93eb-47a955142a90" providerId="ADAL" clId="{F793767E-8B42-4DFB-81BC-F77A7FC2928A}" dt="2025-02-18T06:53:31.145" v="314" actId="1035"/>
          <ac:cxnSpMkLst>
            <pc:docMk/>
            <pc:sldMk cId="0" sldId="265"/>
            <ac:cxnSpMk id="32" creationId="{6D6E80BA-C287-9AE7-75F2-DD1D54DDC82F}"/>
          </ac:cxnSpMkLst>
        </pc:cxnChg>
        <pc:cxnChg chg="add mod">
          <ac:chgData name="wmwang" userId="b02993be-1ffa-4cbd-93eb-47a955142a90" providerId="ADAL" clId="{F793767E-8B42-4DFB-81BC-F77A7FC2928A}" dt="2025-02-18T06:53:31.145" v="314" actId="1035"/>
          <ac:cxnSpMkLst>
            <pc:docMk/>
            <pc:sldMk cId="0" sldId="265"/>
            <ac:cxnSpMk id="40" creationId="{17E44AE5-2DF0-6144-87BA-35C2CFEE7933}"/>
          </ac:cxnSpMkLst>
        </pc:cxnChg>
        <pc:cxnChg chg="add mod">
          <ac:chgData name="wmwang" userId="b02993be-1ffa-4cbd-93eb-47a955142a90" providerId="ADAL" clId="{F793767E-8B42-4DFB-81BC-F77A7FC2928A}" dt="2025-02-18T06:53:31.145" v="314" actId="1035"/>
          <ac:cxnSpMkLst>
            <pc:docMk/>
            <pc:sldMk cId="0" sldId="265"/>
            <ac:cxnSpMk id="43" creationId="{42AAD60F-2B19-0A73-C263-F068A2C196EF}"/>
          </ac:cxnSpMkLst>
        </pc:cxnChg>
      </pc:sldChg>
      <pc:sldChg chg="modSp mod">
        <pc:chgData name="wmwang" userId="b02993be-1ffa-4cbd-93eb-47a955142a90" providerId="ADAL" clId="{F793767E-8B42-4DFB-81BC-F77A7FC2928A}" dt="2025-02-18T07:05:50.414" v="317" actId="20577"/>
        <pc:sldMkLst>
          <pc:docMk/>
          <pc:sldMk cId="0" sldId="389"/>
        </pc:sldMkLst>
        <pc:spChg chg="mod">
          <ac:chgData name="wmwang" userId="b02993be-1ffa-4cbd-93eb-47a955142a90" providerId="ADAL" clId="{F793767E-8B42-4DFB-81BC-F77A7FC2928A}" dt="2025-02-18T07:05:50.414" v="317" actId="20577"/>
          <ac:spMkLst>
            <pc:docMk/>
            <pc:sldMk cId="0" sldId="389"/>
            <ac:spMk id="3" creationId="{00000000-0000-0000-0000-000000000000}"/>
          </ac:spMkLst>
        </pc:spChg>
      </pc:sldChg>
    </pc:docChg>
  </pc:docChgLst>
  <pc:docChgLst>
    <pc:chgData name="wmwang" userId="b02993be-1ffa-4cbd-93eb-47a955142a90" providerId="ADAL" clId="{C2D7C72E-4588-400F-A4CB-0075260CE36A}"/>
    <pc:docChg chg="modSld">
      <pc:chgData name="wmwang" userId="b02993be-1ffa-4cbd-93eb-47a955142a90" providerId="ADAL" clId="{C2D7C72E-4588-400F-A4CB-0075260CE36A}" dt="2023-02-20T07:55:04.600" v="16" actId="20577"/>
      <pc:docMkLst>
        <pc:docMk/>
      </pc:docMkLst>
      <pc:sldChg chg="modSp">
        <pc:chgData name="wmwang" userId="b02993be-1ffa-4cbd-93eb-47a955142a90" providerId="ADAL" clId="{C2D7C72E-4588-400F-A4CB-0075260CE36A}" dt="2023-02-20T07:07:53.446" v="7" actId="20577"/>
        <pc:sldMkLst>
          <pc:docMk/>
          <pc:sldMk cId="0" sldId="258"/>
        </pc:sldMkLst>
      </pc:sldChg>
      <pc:sldChg chg="modSp mod">
        <pc:chgData name="wmwang" userId="b02993be-1ffa-4cbd-93eb-47a955142a90" providerId="ADAL" clId="{C2D7C72E-4588-400F-A4CB-0075260CE36A}" dt="2023-02-20T07:30:55.737" v="8" actId="20577"/>
        <pc:sldMkLst>
          <pc:docMk/>
          <pc:sldMk cId="0" sldId="378"/>
        </pc:sldMkLst>
      </pc:sldChg>
      <pc:sldChg chg="modSp mod">
        <pc:chgData name="wmwang" userId="b02993be-1ffa-4cbd-93eb-47a955142a90" providerId="ADAL" clId="{C2D7C72E-4588-400F-A4CB-0075260CE36A}" dt="2023-02-20T07:33:07.831" v="12" actId="1038"/>
        <pc:sldMkLst>
          <pc:docMk/>
          <pc:sldMk cId="0" sldId="379"/>
        </pc:sldMkLst>
      </pc:sldChg>
      <pc:sldChg chg="modSp mod">
        <pc:chgData name="wmwang" userId="b02993be-1ffa-4cbd-93eb-47a955142a90" providerId="ADAL" clId="{C2D7C72E-4588-400F-A4CB-0075260CE36A}" dt="2023-02-20T07:55:04.600" v="16" actId="20577"/>
        <pc:sldMkLst>
          <pc:docMk/>
          <pc:sldMk cId="0" sldId="384"/>
        </pc:sldMkLst>
      </pc:sldChg>
    </pc:docChg>
  </pc:docChgLst>
  <pc:docChgLst>
    <pc:chgData name="wmwang" userId="b02993be-1ffa-4cbd-93eb-47a955142a90" providerId="ADAL" clId="{F9F53A6E-9FC5-48DC-BA95-1C274A0A46E4}"/>
    <pc:docChg chg="modSld">
      <pc:chgData name="wmwang" userId="b02993be-1ffa-4cbd-93eb-47a955142a90" providerId="ADAL" clId="{F9F53A6E-9FC5-48DC-BA95-1C274A0A46E4}" dt="2023-02-19T14:11:12.735" v="14" actId="20577"/>
      <pc:docMkLst>
        <pc:docMk/>
      </pc:docMkLst>
      <pc:sldChg chg="modSp mod">
        <pc:chgData name="wmwang" userId="b02993be-1ffa-4cbd-93eb-47a955142a90" providerId="ADAL" clId="{F9F53A6E-9FC5-48DC-BA95-1C274A0A46E4}" dt="2023-02-19T14:11:01.462" v="12" actId="20577"/>
        <pc:sldMkLst>
          <pc:docMk/>
          <pc:sldMk cId="0" sldId="257"/>
        </pc:sldMkLst>
      </pc:sldChg>
      <pc:sldChg chg="modSp">
        <pc:chgData name="wmwang" userId="b02993be-1ffa-4cbd-93eb-47a955142a90" providerId="ADAL" clId="{F9F53A6E-9FC5-48DC-BA95-1C274A0A46E4}" dt="2023-02-19T14:11:12.735" v="14" actId="20577"/>
        <pc:sldMkLst>
          <pc:docMk/>
          <pc:sldMk cId="0" sldId="258"/>
        </pc:sldMkLst>
      </pc:sldChg>
      <pc:sldChg chg="modSp mod">
        <pc:chgData name="wmwang" userId="b02993be-1ffa-4cbd-93eb-47a955142a90" providerId="ADAL" clId="{F9F53A6E-9FC5-48DC-BA95-1C274A0A46E4}" dt="2023-02-19T14:11:06.590" v="13" actId="20577"/>
        <pc:sldMkLst>
          <pc:docMk/>
          <pc:sldMk cId="0" sldId="265"/>
        </pc:sldMkLst>
      </pc:sldChg>
      <pc:sldChg chg="modSp">
        <pc:chgData name="wmwang" userId="b02993be-1ffa-4cbd-93eb-47a955142a90" providerId="ADAL" clId="{F9F53A6E-9FC5-48DC-BA95-1C274A0A46E4}" dt="2023-02-19T14:01:56.934" v="11" actId="20577"/>
        <pc:sldMkLst>
          <pc:docMk/>
          <pc:sldMk cId="0" sldId="272"/>
        </pc:sldMkLst>
      </pc:sldChg>
    </pc:docChg>
  </pc:docChgLst>
  <pc:docChgLst>
    <pc:chgData name="wmwang" userId="b02993be-1ffa-4cbd-93eb-47a955142a90" providerId="ADAL" clId="{AA37DDA4-C292-4624-959A-9561B6165728}"/>
    <pc:docChg chg="modSld">
      <pc:chgData name="wmwang" userId="b02993be-1ffa-4cbd-93eb-47a955142a90" providerId="ADAL" clId="{AA37DDA4-C292-4624-959A-9561B6165728}" dt="2024-02-26T07:42:16.184" v="7" actId="20577"/>
      <pc:docMkLst>
        <pc:docMk/>
      </pc:docMkLst>
      <pc:sldChg chg="modSp mod">
        <pc:chgData name="wmwang" userId="b02993be-1ffa-4cbd-93eb-47a955142a90" providerId="ADAL" clId="{AA37DDA4-C292-4624-959A-9561B6165728}" dt="2024-02-26T07:42:16.184" v="7" actId="20577"/>
        <pc:sldMkLst>
          <pc:docMk/>
          <pc:sldMk cId="0" sldId="38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38C22-0A02-4FB6-98DB-DE1BB1AFB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258FE-4E99-4127-A1BC-A986DCCF9E81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D72C2-4FC4-41DC-861B-A20F40ACC8D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7425" y="812800"/>
            <a:ext cx="6929438" cy="3897313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42485" y="4955381"/>
            <a:ext cx="6521449" cy="471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478" tIns="48239" rIns="96478" bIns="48239"/>
          <a:lstStyle/>
          <a:p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9pPr>
          </a:lstStyle>
          <a:p>
            <a:pPr>
              <a:spcBef>
                <a:spcPct val="0"/>
              </a:spcBef>
            </a:pPr>
            <a:fld id="{1BB5A622-7632-4D6D-BC09-FF3758F952EE}" type="slidenum">
              <a:rPr lang="en-US" altLang="zh-TW"/>
              <a:t>18</a:t>
            </a:fld>
            <a:endParaRPr lang="en-US" altLang="zh-TW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anose="02020500000000000000" charset="-120"/>
              </a:defRPr>
            </a:lvl9pPr>
          </a:lstStyle>
          <a:p>
            <a:pPr>
              <a:spcBef>
                <a:spcPct val="0"/>
              </a:spcBef>
            </a:pPr>
            <a:fld id="{C75D48F4-77E6-4519-B26C-0C0E9B41DE65}" type="slidenum">
              <a:rPr lang="en-US" altLang="zh-TW"/>
              <a:t>19</a:t>
            </a:fld>
            <a:endParaRPr lang="en-US" altLang="zh-TW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 marL="567055" indent="-18288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351A1D5-6B61-4EC4-9B02-E5415304AF6D}" type="slidenum">
              <a:rPr lang="zh-TW" altLang="en-US" smtClean="0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51A1D5-6B61-4EC4-9B02-E5415304AF6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6191" y="571999"/>
            <a:ext cx="10416209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66190" y="1881809"/>
            <a:ext cx="4828209" cy="424435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81809"/>
            <a:ext cx="5384800" cy="424435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</a:defRPr>
            </a:lvl1pPr>
          </a:lstStyle>
          <a:p>
            <a:fld id="{CEE89C8B-D834-40BD-8349-B38D5128C0E1}" type="slidenum">
              <a:rPr lang="zh-TW" altLang="en-US" smtClean="0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EE89C8B-D834-40BD-8349-B38D5128C0E1}" type="slidenum">
              <a:rPr lang="zh-TW" altLang="en-US" smtClean="0"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GB" altLang="zh-TW" dirty="0"/>
              <a:t>Lecture 5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/>
          <a:lstStyle/>
          <a:p>
            <a:r>
              <a:rPr lang="en-US" altLang="zh-TW" dirty="0"/>
              <a:t>Transaction Management part </a:t>
            </a:r>
            <a:r>
              <a:rPr lang="en-US" altLang="zh-TW" dirty="0" err="1"/>
              <a:t>i</a:t>
            </a:r>
            <a:endParaRPr lang="en-US" altLang="zh-TW" dirty="0"/>
          </a:p>
        </p:txBody>
      </p:sp>
      <p:sp>
        <p:nvSpPr>
          <p:cNvPr id="5" name="文字方塊 4"/>
          <p:cNvSpPr txBox="1"/>
          <p:nvPr/>
        </p:nvSpPr>
        <p:spPr>
          <a:xfrm>
            <a:off x="784932" y="628444"/>
            <a:ext cx="103953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zh-TW" sz="4400" b="1" dirty="0"/>
              <a:t>COMPS321F</a:t>
            </a:r>
          </a:p>
          <a:p>
            <a:pPr algn="ctr"/>
            <a:r>
              <a:rPr lang="en-US" altLang="zh-TW" sz="4400" b="1" dirty="0"/>
              <a:t>Advanced Database and Data Warehousing</a:t>
            </a:r>
            <a:r>
              <a:rPr lang="en-GB" altLang="zh-TW" sz="4400" b="1" dirty="0"/>
              <a:t> 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3602996" y="5477076"/>
            <a:ext cx="8589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/>
              <a:t>Dr. Daisy Zhang</a:t>
            </a:r>
            <a:endParaRPr lang="en-US" altLang="zh-TW" sz="2800" b="1" dirty="0"/>
          </a:p>
          <a:p>
            <a:pPr algn="r"/>
            <a:r>
              <a:rPr lang="en-US" altLang="zh-TW" sz="2000" i="1" dirty="0"/>
              <a:t>School of Science and Technology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Content</a:t>
            </a:r>
          </a:p>
        </p:txBody>
      </p:sp>
      <p:sp>
        <p:nvSpPr>
          <p:cNvPr id="242691" name="Rectangle 1027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en-US" altLang="zh-TW" dirty="0"/>
              <a:t>Importance of Transactions</a:t>
            </a:r>
          </a:p>
          <a:p>
            <a:r>
              <a:rPr lang="en-US" altLang="zh-TW" dirty="0"/>
              <a:t>Properties of Transactions</a:t>
            </a:r>
          </a:p>
          <a:p>
            <a:r>
              <a:rPr lang="en-US" altLang="zh-TW" dirty="0"/>
              <a:t>Concurrency Control</a:t>
            </a:r>
          </a:p>
          <a:p>
            <a:r>
              <a:rPr lang="en-US" altLang="zh-TW" dirty="0"/>
              <a:t>Serializability of Schedule</a:t>
            </a:r>
          </a:p>
          <a:p>
            <a:r>
              <a:rPr lang="en-US" altLang="en-US" dirty="0"/>
              <a:t>Recoverable Schedule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2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691D0-87F0-0872-9030-8B6CB7AB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Background</a:t>
            </a:r>
            <a:endParaRPr kumimoji="1" lang="zh-CN" altLang="en-US" dirty="0"/>
          </a:p>
        </p:txBody>
      </p:sp>
      <p:pic>
        <p:nvPicPr>
          <p:cNvPr id="6" name="内容占位符 5" descr="图片包含 文本&#10;&#10;AI 生成的内容可能不正确。">
            <a:extLst>
              <a:ext uri="{FF2B5EF4-FFF2-40B4-BE49-F238E27FC236}">
                <a16:creationId xmlns:a16="http://schemas.microsoft.com/office/drawing/2014/main" id="{A1096991-5A9E-2DC6-71FF-9643144B4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831" y="1930399"/>
            <a:ext cx="3337170" cy="333717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AEFE7-8384-82B8-F105-44A46E47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3</a:t>
            </a:fld>
            <a:endParaRPr lang="zh-TW" altLang="en-US" dirty="0"/>
          </a:p>
        </p:txBody>
      </p:sp>
      <p:pic>
        <p:nvPicPr>
          <p:cNvPr id="11" name="图片 10" descr="形状, 圆圈&#10;&#10;AI 生成的内容可能不正确。">
            <a:extLst>
              <a:ext uri="{FF2B5EF4-FFF2-40B4-BE49-F238E27FC236}">
                <a16:creationId xmlns:a16="http://schemas.microsoft.com/office/drawing/2014/main" id="{66D62249-5699-2624-F895-C859C00B1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798" y="2040206"/>
            <a:ext cx="607646" cy="607646"/>
          </a:xfrm>
          <a:prstGeom prst="rect">
            <a:avLst/>
          </a:prstGeom>
        </p:spPr>
      </p:pic>
      <p:pic>
        <p:nvPicPr>
          <p:cNvPr id="13" name="图片 12" descr="卡通人物&#10;&#10;AI 生成的内容可能不正确。">
            <a:extLst>
              <a:ext uri="{FF2B5EF4-FFF2-40B4-BE49-F238E27FC236}">
                <a16:creationId xmlns:a16="http://schemas.microsoft.com/office/drawing/2014/main" id="{FE600E58-A24B-85F2-B07C-DCE72C0CE1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379" y="2040206"/>
            <a:ext cx="607646" cy="607646"/>
          </a:xfrm>
          <a:prstGeom prst="rect">
            <a:avLst/>
          </a:prstGeom>
        </p:spPr>
      </p:pic>
      <p:sp>
        <p:nvSpPr>
          <p:cNvPr id="14" name="圆角矩形标注 13">
            <a:extLst>
              <a:ext uri="{FF2B5EF4-FFF2-40B4-BE49-F238E27FC236}">
                <a16:creationId xmlns:a16="http://schemas.microsoft.com/office/drawing/2014/main" id="{FCD8B62E-3669-8AD1-3637-2CCBE0CFB930}"/>
              </a:ext>
            </a:extLst>
          </p:cNvPr>
          <p:cNvSpPr/>
          <p:nvPr/>
        </p:nvSpPr>
        <p:spPr>
          <a:xfrm>
            <a:off x="2085535" y="2040206"/>
            <a:ext cx="2112110" cy="646330"/>
          </a:xfrm>
          <a:prstGeom prst="wedgeRoundRectCallout">
            <a:avLst>
              <a:gd name="adj1" fmla="val -57616"/>
              <a:gd name="adj2" fmla="val -6619"/>
              <a:gd name="adj3" fmla="val 1666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22EF42-6B6C-1C11-BE49-5D5A86ACCDB6}"/>
              </a:ext>
            </a:extLst>
          </p:cNvPr>
          <p:cNvSpPr txBox="1"/>
          <p:nvPr/>
        </p:nvSpPr>
        <p:spPr>
          <a:xfrm>
            <a:off x="2140630" y="2040206"/>
            <a:ext cx="2167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Read stock: remaining = 1</a:t>
            </a:r>
            <a:endParaRPr kumimoji="1" lang="zh-CN" altLang="en-US" dirty="0"/>
          </a:p>
        </p:txBody>
      </p:sp>
      <p:pic>
        <p:nvPicPr>
          <p:cNvPr id="16" name="图片 15" descr="形状, 圆圈&#10;&#10;AI 生成的内容可能不正确。">
            <a:extLst>
              <a:ext uri="{FF2B5EF4-FFF2-40B4-BE49-F238E27FC236}">
                <a16:creationId xmlns:a16="http://schemas.microsoft.com/office/drawing/2014/main" id="{E3713069-0F6B-5E53-F2E5-C73AE01D4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798" y="3105834"/>
            <a:ext cx="607646" cy="607646"/>
          </a:xfrm>
          <a:prstGeom prst="rect">
            <a:avLst/>
          </a:prstGeom>
        </p:spPr>
      </p:pic>
      <p:sp>
        <p:nvSpPr>
          <p:cNvPr id="17" name="圆角矩形标注 16">
            <a:extLst>
              <a:ext uri="{FF2B5EF4-FFF2-40B4-BE49-F238E27FC236}">
                <a16:creationId xmlns:a16="http://schemas.microsoft.com/office/drawing/2014/main" id="{6BBFF12F-7868-EB2C-3F2B-933FB2F77EE0}"/>
              </a:ext>
            </a:extLst>
          </p:cNvPr>
          <p:cNvSpPr/>
          <p:nvPr/>
        </p:nvSpPr>
        <p:spPr>
          <a:xfrm>
            <a:off x="2085535" y="3105834"/>
            <a:ext cx="2112110" cy="646330"/>
          </a:xfrm>
          <a:prstGeom prst="wedgeRoundRectCallout">
            <a:avLst>
              <a:gd name="adj1" fmla="val -57616"/>
              <a:gd name="adj2" fmla="val -6619"/>
              <a:gd name="adj3" fmla="val 1666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AE7307-636F-5C70-5FF8-32EC85DDEE57}"/>
              </a:ext>
            </a:extLst>
          </p:cNvPr>
          <p:cNvSpPr txBox="1"/>
          <p:nvPr/>
        </p:nvSpPr>
        <p:spPr>
          <a:xfrm>
            <a:off x="2140630" y="3105834"/>
            <a:ext cx="2167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UPDATE remaining = remaining-1</a:t>
            </a:r>
            <a:endParaRPr kumimoji="1" lang="zh-CN" altLang="en-US" dirty="0"/>
          </a:p>
        </p:txBody>
      </p:sp>
      <p:pic>
        <p:nvPicPr>
          <p:cNvPr id="19" name="图片 18" descr="形状, 圆圈&#10;&#10;AI 生成的内容可能不正确。">
            <a:extLst>
              <a:ext uri="{FF2B5EF4-FFF2-40B4-BE49-F238E27FC236}">
                <a16:creationId xmlns:a16="http://schemas.microsoft.com/office/drawing/2014/main" id="{F4EAD772-20AF-E4D0-9A0B-1A22074B4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798" y="4210149"/>
            <a:ext cx="607646" cy="607646"/>
          </a:xfrm>
          <a:prstGeom prst="rect">
            <a:avLst/>
          </a:prstGeom>
        </p:spPr>
      </p:pic>
      <p:sp>
        <p:nvSpPr>
          <p:cNvPr id="20" name="圆角矩形标注 19">
            <a:extLst>
              <a:ext uri="{FF2B5EF4-FFF2-40B4-BE49-F238E27FC236}">
                <a16:creationId xmlns:a16="http://schemas.microsoft.com/office/drawing/2014/main" id="{9ADA8558-0F8B-0B5A-4D97-D729E3DF7CD4}"/>
              </a:ext>
            </a:extLst>
          </p:cNvPr>
          <p:cNvSpPr/>
          <p:nvPr/>
        </p:nvSpPr>
        <p:spPr>
          <a:xfrm>
            <a:off x="2085535" y="4210149"/>
            <a:ext cx="2112110" cy="646330"/>
          </a:xfrm>
          <a:prstGeom prst="wedgeRoundRectCallout">
            <a:avLst>
              <a:gd name="adj1" fmla="val -57616"/>
              <a:gd name="adj2" fmla="val -6619"/>
              <a:gd name="adj3" fmla="val 1666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805696-360C-7200-10B5-C79DBFAED0BC}"/>
              </a:ext>
            </a:extLst>
          </p:cNvPr>
          <p:cNvSpPr txBox="1"/>
          <p:nvPr/>
        </p:nvSpPr>
        <p:spPr>
          <a:xfrm>
            <a:off x="2140630" y="4210149"/>
            <a:ext cx="2167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Create order / Charge payment</a:t>
            </a:r>
            <a:endParaRPr kumimoji="1" lang="zh-CN" altLang="en-US" dirty="0"/>
          </a:p>
        </p:txBody>
      </p:sp>
      <p:sp>
        <p:nvSpPr>
          <p:cNvPr id="23" name="圆角矩形标注 22">
            <a:extLst>
              <a:ext uri="{FF2B5EF4-FFF2-40B4-BE49-F238E27FC236}">
                <a16:creationId xmlns:a16="http://schemas.microsoft.com/office/drawing/2014/main" id="{687D70CB-C253-5250-8167-0BEB3CD23BD9}"/>
              </a:ext>
            </a:extLst>
          </p:cNvPr>
          <p:cNvSpPr/>
          <p:nvPr/>
        </p:nvSpPr>
        <p:spPr>
          <a:xfrm>
            <a:off x="8283135" y="2040206"/>
            <a:ext cx="2112110" cy="646330"/>
          </a:xfrm>
          <a:prstGeom prst="wedgeRoundRectCallout">
            <a:avLst>
              <a:gd name="adj1" fmla="val 59636"/>
              <a:gd name="adj2" fmla="val 3206"/>
              <a:gd name="adj3" fmla="val 1666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548100A-DCB1-844C-0337-13F7319A607C}"/>
              </a:ext>
            </a:extLst>
          </p:cNvPr>
          <p:cNvSpPr txBox="1"/>
          <p:nvPr/>
        </p:nvSpPr>
        <p:spPr>
          <a:xfrm>
            <a:off x="8338230" y="2040206"/>
            <a:ext cx="2167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Read stock: remaining = 1</a:t>
            </a:r>
            <a:endParaRPr kumimoji="1" lang="zh-CN" altLang="en-US" dirty="0"/>
          </a:p>
        </p:txBody>
      </p:sp>
      <p:sp>
        <p:nvSpPr>
          <p:cNvPr id="26" name="圆角矩形标注 25">
            <a:extLst>
              <a:ext uri="{FF2B5EF4-FFF2-40B4-BE49-F238E27FC236}">
                <a16:creationId xmlns:a16="http://schemas.microsoft.com/office/drawing/2014/main" id="{2BD31875-3F10-2D9B-5702-0CF407761E85}"/>
              </a:ext>
            </a:extLst>
          </p:cNvPr>
          <p:cNvSpPr/>
          <p:nvPr/>
        </p:nvSpPr>
        <p:spPr>
          <a:xfrm>
            <a:off x="8283135" y="3105834"/>
            <a:ext cx="2112110" cy="646330"/>
          </a:xfrm>
          <a:prstGeom prst="wedgeRoundRectCallout">
            <a:avLst>
              <a:gd name="adj1" fmla="val 59035"/>
              <a:gd name="adj2" fmla="val 1241"/>
              <a:gd name="adj3" fmla="val 1666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7CB2D5-F47B-102A-93C2-82E07F5FABC5}"/>
              </a:ext>
            </a:extLst>
          </p:cNvPr>
          <p:cNvSpPr txBox="1"/>
          <p:nvPr/>
        </p:nvSpPr>
        <p:spPr>
          <a:xfrm>
            <a:off x="8338230" y="3105834"/>
            <a:ext cx="2167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UPDATE remaining = remaining-1</a:t>
            </a:r>
            <a:endParaRPr kumimoji="1" lang="zh-CN" altLang="en-US" dirty="0"/>
          </a:p>
        </p:txBody>
      </p:sp>
      <p:sp>
        <p:nvSpPr>
          <p:cNvPr id="29" name="圆角矩形标注 28">
            <a:extLst>
              <a:ext uri="{FF2B5EF4-FFF2-40B4-BE49-F238E27FC236}">
                <a16:creationId xmlns:a16="http://schemas.microsoft.com/office/drawing/2014/main" id="{D5F5BCB3-B1E1-24DF-E266-1A7168DE2977}"/>
              </a:ext>
            </a:extLst>
          </p:cNvPr>
          <p:cNvSpPr/>
          <p:nvPr/>
        </p:nvSpPr>
        <p:spPr>
          <a:xfrm>
            <a:off x="8283135" y="4210149"/>
            <a:ext cx="2112110" cy="646330"/>
          </a:xfrm>
          <a:prstGeom prst="wedgeRoundRectCallout">
            <a:avLst>
              <a:gd name="adj1" fmla="val 58434"/>
              <a:gd name="adj2" fmla="val 7136"/>
              <a:gd name="adj3" fmla="val 1666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45C854A-D431-97F8-BC39-D163D272556A}"/>
              </a:ext>
            </a:extLst>
          </p:cNvPr>
          <p:cNvSpPr txBox="1"/>
          <p:nvPr/>
        </p:nvSpPr>
        <p:spPr>
          <a:xfrm>
            <a:off x="8338230" y="4210149"/>
            <a:ext cx="2167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Create order / Charge payment</a:t>
            </a:r>
            <a:endParaRPr kumimoji="1" lang="zh-CN" altLang="en-US" dirty="0"/>
          </a:p>
        </p:txBody>
      </p:sp>
      <p:pic>
        <p:nvPicPr>
          <p:cNvPr id="31" name="图片 30" descr="卡通人物&#10;&#10;AI 生成的内容可能不正确。">
            <a:extLst>
              <a:ext uri="{FF2B5EF4-FFF2-40B4-BE49-F238E27FC236}">
                <a16:creationId xmlns:a16="http://schemas.microsoft.com/office/drawing/2014/main" id="{CB15E6E3-E9C1-5331-1592-87032D1EF1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379" y="3105834"/>
            <a:ext cx="607646" cy="607646"/>
          </a:xfrm>
          <a:prstGeom prst="rect">
            <a:avLst/>
          </a:prstGeom>
        </p:spPr>
      </p:pic>
      <p:pic>
        <p:nvPicPr>
          <p:cNvPr id="32" name="图片 31" descr="卡通人物&#10;&#10;AI 生成的内容可能不正确。">
            <a:extLst>
              <a:ext uri="{FF2B5EF4-FFF2-40B4-BE49-F238E27FC236}">
                <a16:creationId xmlns:a16="http://schemas.microsoft.com/office/drawing/2014/main" id="{F049783E-434E-25C5-6346-038FE1569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379" y="4210149"/>
            <a:ext cx="607646" cy="60764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217E01D-D013-E83C-5832-1CE25B389DD2}"/>
              </a:ext>
            </a:extLst>
          </p:cNvPr>
          <p:cNvSpPr/>
          <p:nvPr/>
        </p:nvSpPr>
        <p:spPr>
          <a:xfrm>
            <a:off x="2661138" y="5427785"/>
            <a:ext cx="7573108" cy="715107"/>
          </a:xfrm>
          <a:prstGeom prst="roundRect">
            <a:avLst/>
          </a:prstGeom>
          <a:solidFill>
            <a:srgbClr val="D03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Result: Oversold / Inconsistent Stock</a:t>
            </a:r>
          </a:p>
        </p:txBody>
      </p:sp>
    </p:spTree>
    <p:extLst>
      <p:ext uri="{BB962C8B-B14F-4D97-AF65-F5344CB8AC3E}">
        <p14:creationId xmlns:p14="http://schemas.microsoft.com/office/powerpoint/2010/main" val="108496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Transaction Support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en-US" altLang="zh-TW" dirty="0"/>
              <a:t>Transaction</a:t>
            </a:r>
          </a:p>
          <a:p>
            <a:pPr lvl="1"/>
            <a:r>
              <a:rPr lang="en-US" altLang="zh-TW" dirty="0"/>
              <a:t>Action, or series of actions, carried out by user or application, which reads or updates contents of database. </a:t>
            </a:r>
          </a:p>
          <a:p>
            <a:pPr>
              <a:buFont typeface="Wingdings" pitchFamily="2" charset="2"/>
              <a:buChar char="Ø"/>
            </a:pPr>
            <a:r>
              <a:rPr lang="en-US" altLang="zh-TW" dirty="0"/>
              <a:t>Logical unit of work on the database. </a:t>
            </a:r>
          </a:p>
          <a:p>
            <a:pPr>
              <a:buFont typeface="Wingdings" pitchFamily="2" charset="2"/>
              <a:buChar char="Ø"/>
            </a:pPr>
            <a:r>
              <a:rPr lang="en-US" altLang="zh-TW" dirty="0"/>
              <a:t>Application program is a series of transactions with non-database processing in between. </a:t>
            </a:r>
          </a:p>
          <a:p>
            <a:pPr>
              <a:buFont typeface="Wingdings" pitchFamily="2" charset="2"/>
              <a:buChar char="Ø"/>
            </a:pPr>
            <a:r>
              <a:rPr lang="en-US" altLang="zh-TW" dirty="0"/>
              <a:t>Transforms database from one consistent state to another, although consistency may be violated during transaction.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4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Transaction Support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Can have one of two outcomes:</a:t>
            </a:r>
          </a:p>
          <a:p>
            <a:pPr lvl="1"/>
            <a:r>
              <a:rPr lang="en-US" altLang="zh-TW" dirty="0"/>
              <a:t>Success</a:t>
            </a:r>
          </a:p>
          <a:p>
            <a:pPr lvl="2"/>
            <a:r>
              <a:rPr lang="en-US" altLang="zh-TW" dirty="0"/>
              <a:t>Transaction commits and database reaches a new consistent state. </a:t>
            </a:r>
          </a:p>
          <a:p>
            <a:pPr lvl="2"/>
            <a:r>
              <a:rPr lang="en-US" dirty="0"/>
              <a:t>Committing the transaction causes the database modifications to be permanently written to the database.</a:t>
            </a:r>
          </a:p>
          <a:p>
            <a:pPr lvl="2"/>
            <a:r>
              <a:rPr lang="en-US" altLang="zh-TW" dirty="0"/>
              <a:t>Committed transaction cannot be aborted or rolled back.</a:t>
            </a:r>
          </a:p>
          <a:p>
            <a:pPr lvl="1"/>
            <a:r>
              <a:rPr lang="en-US" altLang="zh-TW" dirty="0"/>
              <a:t>Failure</a:t>
            </a:r>
          </a:p>
          <a:p>
            <a:pPr lvl="2"/>
            <a:r>
              <a:rPr lang="en-US" altLang="zh-TW" dirty="0"/>
              <a:t>Transaction aborts, and database must be restored to consistent state before it started. </a:t>
            </a:r>
          </a:p>
          <a:p>
            <a:pPr lvl="2"/>
            <a:r>
              <a:rPr lang="en-US" dirty="0"/>
              <a:t>Aborting the transaction causes all modifications made to the database during the course of the transaction discarded.</a:t>
            </a:r>
          </a:p>
          <a:p>
            <a:pPr lvl="2"/>
            <a:r>
              <a:rPr lang="en-US" altLang="zh-TW" dirty="0"/>
              <a:t>Such a transaction is rolled back or undone. </a:t>
            </a:r>
          </a:p>
          <a:p>
            <a:pPr lvl="2"/>
            <a:r>
              <a:rPr lang="en-US" altLang="zh-TW" dirty="0"/>
              <a:t>Aborted transaction that is rolled back can be restarted (re-do) later.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5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Properties of Transactions 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Four basic (ACID) properties of a transaction are:</a:t>
            </a:r>
          </a:p>
          <a:p>
            <a:r>
              <a:rPr lang="en-US" altLang="zh-TW" dirty="0"/>
              <a:t>Atomicity 	</a:t>
            </a:r>
          </a:p>
          <a:p>
            <a:pPr lvl="1"/>
            <a:r>
              <a:rPr lang="en-US" altLang="zh-TW" dirty="0"/>
              <a:t>‘All or nothing’ property. </a:t>
            </a:r>
          </a:p>
          <a:p>
            <a:r>
              <a:rPr lang="en-US" altLang="zh-TW" dirty="0"/>
              <a:t>Consistency	</a:t>
            </a:r>
          </a:p>
          <a:p>
            <a:pPr lvl="1"/>
            <a:r>
              <a:rPr lang="en-US" altLang="zh-TW" dirty="0"/>
              <a:t>Must transform database from one consistent state to another.</a:t>
            </a:r>
          </a:p>
          <a:p>
            <a:r>
              <a:rPr lang="en-US" altLang="zh-TW" dirty="0"/>
              <a:t>Isolation  	</a:t>
            </a:r>
          </a:p>
          <a:p>
            <a:pPr lvl="1"/>
            <a:r>
              <a:rPr lang="en-US" altLang="zh-TW" dirty="0"/>
              <a:t>Partial effects of incomplete transactions should not be visible to other transactions.</a:t>
            </a:r>
          </a:p>
          <a:p>
            <a:r>
              <a:rPr lang="en-US" altLang="zh-TW" dirty="0"/>
              <a:t>Durability	</a:t>
            </a:r>
          </a:p>
          <a:p>
            <a:pPr lvl="1"/>
            <a:r>
              <a:rPr lang="en-US" altLang="zh-TW" dirty="0"/>
              <a:t>Effects of a committed transaction are permanent and must not be lost because of later failure.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6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Need for Concurrency Control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 altLang="zh-TW" dirty="0"/>
              <a:t>Three examples of potential problems caused by concurrency: </a:t>
            </a:r>
          </a:p>
          <a:p>
            <a:pPr lvl="1"/>
            <a:r>
              <a:rPr lang="en-US" altLang="zh-TW" dirty="0"/>
              <a:t>Lost update problem.</a:t>
            </a:r>
          </a:p>
          <a:p>
            <a:pPr lvl="1"/>
            <a:r>
              <a:rPr lang="en-US" altLang="zh-TW" dirty="0"/>
              <a:t>Uncommitted dependency problem.</a:t>
            </a:r>
          </a:p>
          <a:p>
            <a:pPr lvl="1"/>
            <a:r>
              <a:rPr lang="en-US" altLang="zh-TW" dirty="0"/>
              <a:t>Inconsistent analysis problem.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7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Lost Update Problem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 altLang="zh-TW" dirty="0"/>
              <a:t>Successfully completed update is overridden by another user.</a:t>
            </a:r>
          </a:p>
          <a:p>
            <a:r>
              <a:rPr lang="en-US" altLang="zh-TW" dirty="0"/>
              <a:t>For example</a:t>
            </a:r>
          </a:p>
          <a:p>
            <a:pPr lvl="1"/>
            <a:r>
              <a:rPr lang="en-US" altLang="zh-TW" dirty="0"/>
              <a:t>An account with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(stored in database), initially £100 (i.e.,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= £100).</a:t>
            </a:r>
          </a:p>
          <a:p>
            <a:pPr lvl="1"/>
            <a:r>
              <a:rPr lang="en-US" altLang="zh-TW" dirty="0"/>
              <a:t>T1 withdrawing £10 (i.e.,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= £100 - £10 = £90) </a:t>
            </a:r>
          </a:p>
          <a:p>
            <a:pPr lvl="1"/>
            <a:r>
              <a:rPr lang="en-US" altLang="zh-TW" dirty="0"/>
              <a:t>T2 depositing £100 into same account. (i.e.,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baseline="-25000" dirty="0"/>
              <a:t> </a:t>
            </a:r>
            <a:r>
              <a:rPr lang="en-US" altLang="zh-TW" dirty="0"/>
              <a:t>= £90 + £100 = £190) </a:t>
            </a:r>
          </a:p>
          <a:p>
            <a:pPr lvl="1"/>
            <a:r>
              <a:rPr lang="en-US" altLang="zh-TW" dirty="0"/>
              <a:t>Serially, final balance would be </a:t>
            </a:r>
            <a:r>
              <a:rPr lang="en-US" altLang="zh-TW" b="1" u="sng" dirty="0"/>
              <a:t>£190</a:t>
            </a:r>
            <a:r>
              <a:rPr lang="en-US" altLang="zh-TW" dirty="0"/>
              <a:t>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8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/>
              <a:t>Lost Update Problem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 altLang="zh-TW" dirty="0"/>
              <a:t>Expected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(stored in database) = £100 - £10 + £100  = £190</a:t>
            </a:r>
          </a:p>
          <a:p>
            <a:r>
              <a:rPr lang="en-US" altLang="zh-TW" dirty="0"/>
              <a:t>Actual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(stored in database) = £90 (which is wrong!)</a:t>
            </a:r>
          </a:p>
        </p:txBody>
      </p:sp>
      <p:pic>
        <p:nvPicPr>
          <p:cNvPr id="253956" name="Picture 4" descr="DS3-Figure 19-0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397" y="3081870"/>
            <a:ext cx="8135938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9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Lost Update Problem (Solution)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 altLang="zh-TW" dirty="0"/>
              <a:t>Loss of T2’s update avoided by preventing T1 from reading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until after update.</a:t>
            </a:r>
          </a:p>
          <a:p>
            <a:r>
              <a:rPr lang="en-US" altLang="zh-TW" i="1" dirty="0"/>
              <a:t>More details will be discussed in the latter part.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10</a:t>
            </a:fld>
            <a:endParaRPr lang="zh-TW" altLang="en-US" dirty="0"/>
          </a:p>
        </p:txBody>
      </p:sp>
      <p:pic>
        <p:nvPicPr>
          <p:cNvPr id="8" name="Picture 4" descr="DS3-Figure 19-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928" y="3429000"/>
            <a:ext cx="5920144" cy="333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Uncommitted Dependency Problem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Occurs when one transaction can see intermediate results of another transaction before it has committed. </a:t>
            </a:r>
          </a:p>
          <a:p>
            <a:r>
              <a:rPr lang="en-US" altLang="zh-TW" dirty="0"/>
              <a:t>For example</a:t>
            </a:r>
          </a:p>
          <a:p>
            <a:pPr lvl="1"/>
            <a:r>
              <a:rPr lang="en-US" altLang="zh-TW" dirty="0"/>
              <a:t>An account with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, initially £100 (i.e.,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= £100).</a:t>
            </a:r>
          </a:p>
          <a:p>
            <a:pPr lvl="1"/>
            <a:r>
              <a:rPr lang="en-US" altLang="zh-TW" dirty="0"/>
              <a:t>T4 depositing £100 (updates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to £200) but it </a:t>
            </a:r>
            <a:r>
              <a:rPr lang="en-US" altLang="zh-TW" b="1" i="1" dirty="0"/>
              <a:t>aborts</a:t>
            </a:r>
            <a:endParaRPr lang="en-US" altLang="zh-TW" dirty="0"/>
          </a:p>
          <a:p>
            <a:pPr lvl="2"/>
            <a:r>
              <a:rPr lang="en-US" altLang="zh-TW" dirty="0"/>
              <a:t>so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should be back at original value of £100 (i.e.,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= £100).</a:t>
            </a:r>
          </a:p>
          <a:p>
            <a:pPr lvl="1"/>
            <a:r>
              <a:rPr lang="en-US" altLang="zh-TW" dirty="0"/>
              <a:t>T3 withdrawing £10 but has read new value of </a:t>
            </a:r>
            <a:r>
              <a:rPr lang="en-US" altLang="zh-TW" dirty="0" err="1"/>
              <a:t>balx</a:t>
            </a:r>
            <a:r>
              <a:rPr lang="en-US" altLang="zh-TW" dirty="0"/>
              <a:t> (£200) before T4 aborts.</a:t>
            </a:r>
          </a:p>
          <a:p>
            <a:pPr lvl="2"/>
            <a:r>
              <a:rPr lang="en-US" altLang="zh-TW" dirty="0"/>
              <a:t>T3 uses value as basis of £10 reduction, giving a new balance of £190 (i.e., </a:t>
            </a:r>
            <a:r>
              <a:rPr lang="en-US" altLang="zh-TW" dirty="0" err="1"/>
              <a:t>balx</a:t>
            </a:r>
            <a:r>
              <a:rPr lang="en-US" altLang="zh-TW" dirty="0"/>
              <a:t> = £200 - £10 = £190) </a:t>
            </a:r>
          </a:p>
          <a:p>
            <a:pPr lvl="2"/>
            <a:r>
              <a:rPr lang="en-US" altLang="zh-TW" dirty="0"/>
              <a:t>The correct version should be £90 (i.e., </a:t>
            </a:r>
            <a:r>
              <a:rPr lang="en-US" altLang="zh-TW" dirty="0" err="1"/>
              <a:t>balx</a:t>
            </a:r>
            <a:r>
              <a:rPr lang="en-US" altLang="zh-TW" dirty="0"/>
              <a:t> = £100 - £10 = £90) </a:t>
            </a:r>
          </a:p>
          <a:p>
            <a:pPr lvl="1"/>
            <a:r>
              <a:rPr lang="en-US" altLang="zh-TW" dirty="0"/>
              <a:t>Serially, final balance would be </a:t>
            </a:r>
            <a:r>
              <a:rPr lang="en-US" altLang="zh-TW" b="1" u="sng" dirty="0"/>
              <a:t>£90</a:t>
            </a:r>
            <a:r>
              <a:rPr lang="en-US" altLang="zh-TW" dirty="0"/>
              <a:t>. </a:t>
            </a:r>
          </a:p>
          <a:p>
            <a:endParaRPr lang="en-US" altLang="zh-TW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11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/>
              <a:t>Uncommitted Dependency Problem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 altLang="zh-TW" dirty="0"/>
              <a:t>Expected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(stored in database) = £100 - £10  = £90</a:t>
            </a:r>
          </a:p>
          <a:p>
            <a:r>
              <a:rPr lang="en-US" altLang="zh-TW" dirty="0"/>
              <a:t>Actual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(stored in database) = £190 (which is wrong!)</a:t>
            </a:r>
          </a:p>
        </p:txBody>
      </p:sp>
      <p:pic>
        <p:nvPicPr>
          <p:cNvPr id="256004" name="Picture 4" descr="DS3-Figure 19-0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135" y="2952750"/>
            <a:ext cx="8137525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12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Uncommitted Dependency Problem (Solution)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US" altLang="zh-TW" dirty="0"/>
              <a:t>Problem avoided by preventing T3 from reading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until after T4 commits or aborts.</a:t>
            </a:r>
          </a:p>
          <a:p>
            <a:r>
              <a:rPr lang="en-US" altLang="zh-TW" i="1" dirty="0"/>
              <a:t>More details will be discussed in the latter part.</a:t>
            </a:r>
          </a:p>
          <a:p>
            <a:endParaRPr lang="en-US" altLang="zh-TW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13</a:t>
            </a:fld>
            <a:endParaRPr lang="zh-TW" altLang="en-US" dirty="0"/>
          </a:p>
        </p:txBody>
      </p:sp>
      <p:pic>
        <p:nvPicPr>
          <p:cNvPr id="6" name="Picture 4" descr="DS3-Figure 19-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210" y="3378200"/>
            <a:ext cx="578358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Inconsistent Analysis Problem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Occurs when transaction reads several values but second transaction updates some of them during execution of first transaction. </a:t>
            </a:r>
          </a:p>
          <a:p>
            <a:r>
              <a:rPr lang="en-US" altLang="zh-TW" dirty="0"/>
              <a:t>Sometimes referred to as dirty read or unrepeatable read. </a:t>
            </a:r>
          </a:p>
          <a:p>
            <a:r>
              <a:rPr lang="en-US" altLang="zh-TW" dirty="0"/>
              <a:t>For example</a:t>
            </a:r>
          </a:p>
          <a:p>
            <a:pPr lvl="1"/>
            <a:r>
              <a:rPr lang="en-US" altLang="zh-TW" dirty="0"/>
              <a:t>T6 is totaling balances of account x (£100), account y (£50), and account z (£25).</a:t>
            </a:r>
          </a:p>
          <a:p>
            <a:pPr lvl="2"/>
            <a:r>
              <a:rPr lang="en-US" altLang="zh-TW" dirty="0"/>
              <a:t>The totaling balance is initially </a:t>
            </a:r>
            <a:r>
              <a:rPr lang="en-US" altLang="zh-TW" b="1" u="sng" dirty="0"/>
              <a:t>£175 </a:t>
            </a:r>
            <a:r>
              <a:rPr lang="en-US" altLang="zh-TW" dirty="0"/>
              <a:t>(£100 + £50 + £25)</a:t>
            </a:r>
          </a:p>
          <a:p>
            <a:pPr lvl="1"/>
            <a:r>
              <a:rPr lang="en-US" altLang="zh-TW" dirty="0"/>
              <a:t>Meantime, T5 has transferred £10 from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to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z</a:t>
            </a:r>
            <a:endParaRPr lang="en-US" altLang="zh-TW" baseline="-25000" dirty="0"/>
          </a:p>
          <a:p>
            <a:pPr lvl="1"/>
            <a:r>
              <a:rPr lang="en-US" altLang="zh-TW" dirty="0"/>
              <a:t>Serially, final balance would be:</a:t>
            </a:r>
          </a:p>
          <a:p>
            <a:pPr lvl="2"/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(£90),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y</a:t>
            </a:r>
            <a:r>
              <a:rPr lang="en-US" altLang="zh-TW" dirty="0"/>
              <a:t> (£50), and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z</a:t>
            </a:r>
            <a:r>
              <a:rPr lang="en-US" altLang="zh-TW" dirty="0"/>
              <a:t> (£35)</a:t>
            </a:r>
          </a:p>
          <a:p>
            <a:pPr lvl="2"/>
            <a:r>
              <a:rPr lang="en-US" altLang="zh-TW" dirty="0"/>
              <a:t>The totaling balance would also be </a:t>
            </a:r>
            <a:r>
              <a:rPr lang="en-US" altLang="zh-TW" b="1" u="sng" dirty="0"/>
              <a:t>£175 </a:t>
            </a:r>
            <a:r>
              <a:rPr lang="en-US" altLang="zh-TW" dirty="0"/>
              <a:t>(£90 + £50 + £35)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14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/>
              <a:t>Inconsistent Analysis Problem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en-US" altLang="zh-TW" dirty="0"/>
              <a:t>Expected totaling balance = £175 (£90 + £50 + £35)</a:t>
            </a:r>
          </a:p>
          <a:p>
            <a:r>
              <a:rPr lang="en-US" altLang="zh-TW" dirty="0"/>
              <a:t>Actual totaling balance = £185 (which is wrong!)</a:t>
            </a:r>
          </a:p>
          <a:p>
            <a:endParaRPr lang="en-US" altLang="zh-TW" dirty="0"/>
          </a:p>
        </p:txBody>
      </p:sp>
      <p:pic>
        <p:nvPicPr>
          <p:cNvPr id="258052" name="Picture 4" descr="DS3-Figure 19-0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440" y="3009900"/>
            <a:ext cx="7691120" cy="368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15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DS3-Figure 19-1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430" y="2675255"/>
            <a:ext cx="6327140" cy="4182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/>
              <a:t>Inconsistent Analysis Problem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945"/>
            <a:ext cx="10057765" cy="3044190"/>
          </a:xfrm>
        </p:spPr>
        <p:txBody>
          <a:bodyPr>
            <a:normAutofit/>
          </a:bodyPr>
          <a:lstStyle/>
          <a:p>
            <a:r>
              <a:rPr lang="en-US" altLang="zh-TW" dirty="0"/>
              <a:t>Problem avoided by preventing T6 from reading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x</a:t>
            </a:r>
            <a:r>
              <a:rPr lang="en-US" altLang="zh-TW" dirty="0"/>
              <a:t> and </a:t>
            </a:r>
            <a:r>
              <a:rPr lang="en-US" altLang="zh-TW" dirty="0" err="1"/>
              <a:t>bal</a:t>
            </a:r>
            <a:r>
              <a:rPr lang="en-US" altLang="zh-TW" baseline="-25000" dirty="0" err="1"/>
              <a:t>z</a:t>
            </a:r>
            <a:r>
              <a:rPr lang="en-US" altLang="zh-TW" dirty="0"/>
              <a:t> until after T5 completed updates.</a:t>
            </a:r>
          </a:p>
          <a:p>
            <a:endParaRPr lang="en-US" altLang="zh-TW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16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Serializability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92500"/>
          </a:bodyPr>
          <a:lstStyle/>
          <a:p>
            <a:pPr marL="365760" indent="-457200">
              <a:buFont typeface="Wingdings" pitchFamily="2" charset="2"/>
              <a:buChar char="Ø"/>
            </a:pPr>
            <a:r>
              <a:rPr lang="en-US" altLang="zh-TW" dirty="0"/>
              <a:t>Schedule</a:t>
            </a:r>
          </a:p>
          <a:p>
            <a:pPr lvl="1"/>
            <a:r>
              <a:rPr lang="en-US" altLang="zh-TW" dirty="0"/>
              <a:t>Sequence of reads/writes by set of concurrent transactions. </a:t>
            </a:r>
          </a:p>
          <a:p>
            <a:pPr marL="365760" indent="-457200">
              <a:buFont typeface="Wingdings" pitchFamily="2" charset="2"/>
              <a:buChar char="Ø"/>
            </a:pPr>
            <a:r>
              <a:rPr lang="en-US" altLang="zh-TW" dirty="0"/>
              <a:t>Serial Schedule</a:t>
            </a:r>
          </a:p>
          <a:p>
            <a:pPr lvl="1"/>
            <a:r>
              <a:rPr lang="en-US" altLang="zh-TW" dirty="0"/>
              <a:t>Schedule where operations of each transaction are executed consecutively without any interleaved operations from other transactions. </a:t>
            </a:r>
          </a:p>
          <a:p>
            <a:pPr>
              <a:buFont typeface="Wingdings" pitchFamily="2" charset="2"/>
              <a:buChar char="Ø"/>
            </a:pPr>
            <a:r>
              <a:rPr lang="en-US" altLang="zh-TW" dirty="0"/>
              <a:t>Non-serial Schedule</a:t>
            </a:r>
          </a:p>
          <a:p>
            <a:pPr lvl="1"/>
            <a:r>
              <a:rPr lang="en-US" altLang="zh-TW" dirty="0"/>
              <a:t>Schedule where operations from set of concurrent transactions are interleaved.</a:t>
            </a:r>
          </a:p>
          <a:p>
            <a:pPr lvl="1"/>
            <a:r>
              <a:rPr lang="en-US" altLang="zh-TW" dirty="0"/>
              <a:t>If the non-serial schedule is equivalent to serial schedule, it is conflict serializable. Otherwise, the non-serial schedule is not conflict serializable.</a:t>
            </a:r>
          </a:p>
          <a:p>
            <a:endParaRPr lang="en-US" altLang="zh-TW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17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09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852" y="2719240"/>
            <a:ext cx="6603834" cy="1744652"/>
          </a:xfrm>
          <a:prstGeom prst="rect">
            <a:avLst/>
          </a:prstGeom>
        </p:spPr>
      </p:pic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97280" y="1881809"/>
            <a:ext cx="7120560" cy="4244355"/>
          </a:xfrm>
        </p:spPr>
        <p:txBody>
          <a:bodyPr>
            <a:normAutofit/>
          </a:bodyPr>
          <a:lstStyle/>
          <a:p>
            <a:r>
              <a:rPr lang="en-US" altLang="zh-TW" dirty="0"/>
              <a:t>A transaction (execution from left to right) consists of Read (R) or Write (W) operations on a variable (i.e. named as A and B)</a:t>
            </a:r>
          </a:p>
          <a:p>
            <a:pPr lvl="1"/>
            <a:r>
              <a:rPr lang="en-US" altLang="zh-TW" dirty="0"/>
              <a:t>E.g. T1 : R(A), W(A)</a:t>
            </a:r>
          </a:p>
          <a:p>
            <a:pPr lvl="1"/>
            <a:r>
              <a:rPr lang="en-US" altLang="zh-TW" dirty="0"/>
              <a:t>E.g. T2 : W(B), R(A)</a:t>
            </a:r>
          </a:p>
          <a:p>
            <a:r>
              <a:rPr lang="en-US" altLang="zh-TW" dirty="0"/>
              <a:t>Schedule</a:t>
            </a:r>
          </a:p>
          <a:p>
            <a:pPr lvl="1"/>
            <a:r>
              <a:rPr lang="en-US" altLang="zh-TW" dirty="0"/>
              <a:t>A sequence of operations from a set of transactions </a:t>
            </a:r>
            <a:br>
              <a:rPr lang="en-US" altLang="zh-TW" dirty="0"/>
            </a:br>
            <a:r>
              <a:rPr lang="en-US" altLang="zh-TW" dirty="0"/>
              <a:t>{T1, T2, …, Tn}</a:t>
            </a:r>
          </a:p>
          <a:p>
            <a:pPr lvl="1"/>
            <a:r>
              <a:rPr lang="en-US" altLang="zh-TW" dirty="0"/>
              <a:t>For the set of transactions {T1, T2}, several schedules are possible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4351A1D5-6B61-4EC4-9B02-E5415304AF6D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10E933B-2A7B-4C25-A2E1-CCF8155EBDBA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Schedule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97280" y="1881189"/>
            <a:ext cx="9777852" cy="1062428"/>
          </a:xfrm>
        </p:spPr>
        <p:txBody>
          <a:bodyPr>
            <a:normAutofit/>
          </a:bodyPr>
          <a:lstStyle/>
          <a:p>
            <a:r>
              <a:rPr lang="en-US" altLang="zh-TW" dirty="0"/>
              <a:t>In summary, the follows shows the tree structure of different schedules:</a:t>
            </a:r>
          </a:p>
          <a:p>
            <a:endParaRPr lang="en-US" altLang="zh-TW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4351A1D5-6B61-4EC4-9B02-E5415304AF6D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80D9B49-5535-4063-8961-6775CFB09A2B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Summary of Schedule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81A299-517D-7340-832C-9A9DD43C4310}"/>
              </a:ext>
            </a:extLst>
          </p:cNvPr>
          <p:cNvSpPr/>
          <p:nvPr/>
        </p:nvSpPr>
        <p:spPr>
          <a:xfrm>
            <a:off x="1173081" y="3713723"/>
            <a:ext cx="1829649" cy="5659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Schedule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B2B2C7-DAE6-E0D3-B38D-F15B9E778D46}"/>
              </a:ext>
            </a:extLst>
          </p:cNvPr>
          <p:cNvSpPr/>
          <p:nvPr/>
        </p:nvSpPr>
        <p:spPr>
          <a:xfrm>
            <a:off x="7458244" y="3186286"/>
            <a:ext cx="3672697" cy="1062428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Conflict serializable </a:t>
            </a:r>
          </a:p>
          <a:p>
            <a:pPr algn="ctr"/>
            <a:r>
              <a:rPr lang="en-US" sz="2800" dirty="0">
                <a:solidFill>
                  <a:srgbClr val="00B050"/>
                </a:solidFill>
              </a:rPr>
              <a:t>(no errors)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F01C2-8C9E-FEC7-398B-D67E051FCA3E}"/>
              </a:ext>
            </a:extLst>
          </p:cNvPr>
          <p:cNvSpPr/>
          <p:nvPr/>
        </p:nvSpPr>
        <p:spPr>
          <a:xfrm>
            <a:off x="3963627" y="3180415"/>
            <a:ext cx="2618921" cy="565987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Serial (no errors)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988DC9-789D-264E-DBD7-A5A64536AEA5}"/>
              </a:ext>
            </a:extLst>
          </p:cNvPr>
          <p:cNvSpPr/>
          <p:nvPr/>
        </p:nvSpPr>
        <p:spPr>
          <a:xfrm>
            <a:off x="3963628" y="4248714"/>
            <a:ext cx="2618921" cy="56598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Non-serial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4C68C9-3518-86B2-2662-D30C20BE65C7}"/>
              </a:ext>
            </a:extLst>
          </p:cNvPr>
          <p:cNvSpPr/>
          <p:nvPr/>
        </p:nvSpPr>
        <p:spPr>
          <a:xfrm>
            <a:off x="7459673" y="4814701"/>
            <a:ext cx="3672697" cy="106242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Not conflict serializable (may have errors)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96740B3-DA83-CCD6-814E-071323DE8D9C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3002730" y="3463409"/>
            <a:ext cx="960897" cy="53330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6D6E80BA-C287-9AE7-75F2-DD1D54DDC82F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>
            <a:off x="3002730" y="3996717"/>
            <a:ext cx="960898" cy="53499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17E44AE5-2DF0-6144-87BA-35C2CFEE7933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 flipV="1">
            <a:off x="6582549" y="3717500"/>
            <a:ext cx="875695" cy="81420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2AAD60F-2B19-0A73-C263-F068A2C196EF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6582549" y="4531708"/>
            <a:ext cx="877124" cy="81420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Non-conflicting </a:t>
            </a:r>
            <a:r>
              <a:rPr lang="en-GB" altLang="en-US" dirty="0"/>
              <a:t>Operations</a:t>
            </a:r>
            <a:endParaRPr lang="en-US" altLang="zh-TW" dirty="0"/>
          </a:p>
        </p:txBody>
      </p:sp>
      <p:sp>
        <p:nvSpPr>
          <p:cNvPr id="262147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en-US" altLang="zh-TW" dirty="0"/>
              <a:t>(a)  If two operations only read data items, they do not conflict.</a:t>
            </a:r>
          </a:p>
          <a:p>
            <a:r>
              <a:rPr lang="en-US" altLang="zh-TW" dirty="0"/>
              <a:t>(b)  If two operations either read or write different data items, they do not conflict.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20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97280" y="1884962"/>
            <a:ext cx="10046335" cy="1475740"/>
          </a:xfrm>
        </p:spPr>
        <p:txBody>
          <a:bodyPr/>
          <a:lstStyle/>
          <a:p>
            <a:r>
              <a:rPr lang="en-US" altLang="zh-TW" dirty="0"/>
              <a:t>Schedules with non-conflict operations </a:t>
            </a:r>
          </a:p>
          <a:p>
            <a:pPr lvl="1"/>
            <a:r>
              <a:rPr lang="en-US" altLang="zh-TW" dirty="0"/>
              <a:t>No error (execution from left to right) </a:t>
            </a:r>
          </a:p>
          <a:p>
            <a:pPr lvl="1"/>
            <a:r>
              <a:rPr lang="en-US" altLang="zh-TW" dirty="0"/>
              <a:t>E.g.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4351A1D5-6B61-4EC4-9B02-E5415304AF6D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8229" name="Group 37"/>
          <p:cNvGraphicFramePr>
            <a:graphicFrameLocks noGrp="1"/>
          </p:cNvGraphicFramePr>
          <p:nvPr/>
        </p:nvGraphicFramePr>
        <p:xfrm>
          <a:off x="2879091" y="3891280"/>
          <a:ext cx="2087563" cy="676276"/>
        </p:xfrm>
        <a:graphic>
          <a:graphicData uri="http://schemas.openxmlformats.org/drawingml/2006/table">
            <a:tbl>
              <a:tblPr/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i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80" marB="468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R(X),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j</a:t>
                      </a: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80" marB="468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R(X)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40" name="Group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879091" y="4684078"/>
          <a:ext cx="2087563" cy="675738"/>
        </p:xfrm>
        <a:graphic>
          <a:graphicData uri="http://schemas.openxmlformats.org/drawingml/2006/table">
            <a:tbl>
              <a:tblPr/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9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i</a:t>
                      </a: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80" marB="468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W(X),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j</a:t>
                      </a: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80" marB="468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R(Y)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51" name="Group 5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182553" y="4683443"/>
          <a:ext cx="2087562" cy="676276"/>
        </p:xfrm>
        <a:graphic>
          <a:graphicData uri="http://schemas.openxmlformats.org/drawingml/2006/table">
            <a:tbl>
              <a:tblPr/>
              <a:tblGrid>
                <a:gridCol w="5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i</a:t>
                      </a: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80" marB="468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R(X),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j</a:t>
                      </a: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80" marB="468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W(Y)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62" name="Group 70"/>
          <p:cNvGraphicFramePr>
            <a:graphicFrameLocks noGrp="1"/>
          </p:cNvGraphicFramePr>
          <p:nvPr/>
        </p:nvGraphicFramePr>
        <p:xfrm>
          <a:off x="7414578" y="4683443"/>
          <a:ext cx="2087562" cy="676276"/>
        </p:xfrm>
        <a:graphic>
          <a:graphicData uri="http://schemas.openxmlformats.org/drawingml/2006/table">
            <a:tbl>
              <a:tblPr/>
              <a:tblGrid>
                <a:gridCol w="5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i</a:t>
                      </a: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80" marB="468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W</a:t>
                      </a:r>
                      <a:r>
                        <a:rPr kumimoji="1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 </a:t>
                      </a: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(X),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j</a:t>
                      </a: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80" marB="468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W(Y)</a:t>
                      </a:r>
                      <a:endParaRPr kumimoji="1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80" marB="4688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F571CE83-0C0D-4A17-883F-376F7FC5B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Non-conflicting </a:t>
            </a:r>
            <a:r>
              <a:rPr lang="en-GB" altLang="en-US" dirty="0"/>
              <a:t>Operations</a:t>
            </a:r>
            <a:endParaRPr lang="en-US" altLang="zh-TW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09892" y="1881188"/>
            <a:ext cx="10045700" cy="4244975"/>
          </a:xfrm>
        </p:spPr>
        <p:txBody>
          <a:bodyPr/>
          <a:lstStyle/>
          <a:p>
            <a:pPr marL="365760" indent="-457200">
              <a:buFont typeface="Wingdings" pitchFamily="2" charset="2"/>
              <a:buChar char="Ø"/>
            </a:pPr>
            <a:r>
              <a:rPr lang="en-US" altLang="zh-TW" dirty="0"/>
              <a:t> Schedules with conflicting operations may have errors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   </a:t>
            </a:r>
            <a:r>
              <a:rPr lang="en-US" altLang="zh-TW" dirty="0"/>
              <a:t>Two operations are conflicting if</a:t>
            </a:r>
          </a:p>
          <a:p>
            <a:pPr lvl="1"/>
            <a:r>
              <a:rPr lang="en-US" altLang="zh-TW" dirty="0"/>
              <a:t>They are operations from different transactions on the </a:t>
            </a:r>
            <a:r>
              <a:rPr lang="en-US" altLang="zh-TW" b="1" dirty="0">
                <a:solidFill>
                  <a:srgbClr val="0070C0"/>
                </a:solidFill>
              </a:rPr>
              <a:t>same data item</a:t>
            </a:r>
          </a:p>
          <a:p>
            <a:pPr lvl="1"/>
            <a:r>
              <a:rPr lang="en-US" altLang="zh-TW" dirty="0"/>
              <a:t>At least one of them is a </a:t>
            </a:r>
            <a:r>
              <a:rPr lang="en-US" altLang="zh-TW" b="1" dirty="0">
                <a:solidFill>
                  <a:srgbClr val="FF0000"/>
                </a:solidFill>
              </a:rPr>
              <a:t>Write</a:t>
            </a:r>
            <a:r>
              <a:rPr lang="en-US" altLang="zh-TW" dirty="0"/>
              <a:t> operation</a:t>
            </a:r>
          </a:p>
          <a:p>
            <a:pPr lvl="1"/>
            <a:r>
              <a:rPr lang="en-US" altLang="zh-TW" dirty="0"/>
              <a:t>E.g. </a:t>
            </a:r>
          </a:p>
          <a:p>
            <a:pPr lvl="1"/>
            <a:endParaRPr lang="en-US" altLang="zh-TW" dirty="0"/>
          </a:p>
        </p:txBody>
      </p:sp>
      <p:graphicFrame>
        <p:nvGraphicFramePr>
          <p:cNvPr id="8196" name="Group 4"/>
          <p:cNvGraphicFramePr>
            <a:graphicFrameLocks noGrp="1"/>
          </p:cNvGraphicFramePr>
          <p:nvPr>
            <p:ph sz="half" idx="2"/>
          </p:nvPr>
        </p:nvGraphicFramePr>
        <p:xfrm>
          <a:off x="2661844" y="4836842"/>
          <a:ext cx="2209800" cy="7397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i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W(</a:t>
                      </a:r>
                      <a:r>
                        <a:rPr kumimoji="1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X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),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j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R(</a:t>
                      </a:r>
                      <a:r>
                        <a:rPr kumimoji="1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X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)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4351A1D5-6B61-4EC4-9B02-E5415304AF6D}" type="slidenum">
              <a:rPr lang="zh-TW" altLang="en-US" smtClean="0"/>
              <a:t>22</a:t>
            </a:fld>
            <a:endParaRPr lang="zh-TW" altLang="en-US"/>
          </a:p>
        </p:txBody>
      </p:sp>
      <p:graphicFrame>
        <p:nvGraphicFramePr>
          <p:cNvPr id="8207" name="Group 15"/>
          <p:cNvGraphicFramePr>
            <a:graphicFrameLocks noGrp="1"/>
          </p:cNvGraphicFramePr>
          <p:nvPr/>
        </p:nvGraphicFramePr>
        <p:xfrm>
          <a:off x="5016107" y="4836842"/>
          <a:ext cx="2087562" cy="698500"/>
        </p:xfrm>
        <a:graphic>
          <a:graphicData uri="http://schemas.openxmlformats.org/drawingml/2006/table">
            <a:tbl>
              <a:tblPr/>
              <a:tblGrid>
                <a:gridCol w="5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7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i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47" marB="468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R(</a:t>
                      </a:r>
                      <a:r>
                        <a:rPr kumimoji="1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X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),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47" marB="4684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47" marB="4684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j</a:t>
                      </a: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847" marB="468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47" marB="4684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W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(</a:t>
                      </a:r>
                      <a:r>
                        <a:rPr kumimoji="1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X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)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847" marB="4684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18" name="Group 26"/>
          <p:cNvGraphicFramePr>
            <a:graphicFrameLocks noGrp="1"/>
          </p:cNvGraphicFramePr>
          <p:nvPr/>
        </p:nvGraphicFramePr>
        <p:xfrm>
          <a:off x="7248132" y="4836842"/>
          <a:ext cx="2087562" cy="674716"/>
        </p:xfrm>
        <a:graphic>
          <a:graphicData uri="http://schemas.openxmlformats.org/drawingml/2006/table">
            <a:tbl>
              <a:tblPr/>
              <a:tblGrid>
                <a:gridCol w="5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3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i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759" marB="4675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W</a:t>
                      </a:r>
                      <a:r>
                        <a:rPr kumimoji="1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 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(</a:t>
                      </a:r>
                      <a:r>
                        <a:rPr kumimoji="1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X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),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759" marB="46759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759" marB="46759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T</a:t>
                      </a:r>
                      <a:r>
                        <a:rPr kumimoji="1" lang="en-US" altLang="zh-TW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j</a:t>
                      </a: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:</a:t>
                      </a:r>
                    </a:p>
                  </a:txBody>
                  <a:tcPr marL="90000" marR="90000" marT="46759" marB="4675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759" marB="4675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W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(</a:t>
                      </a:r>
                      <a:r>
                        <a:rPr kumimoji="1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X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charset="-120"/>
                        </a:rPr>
                        <a:t>)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PMingLiU" panose="02020500000000000000" charset="-120"/>
                      </a:endParaRPr>
                    </a:p>
                  </a:txBody>
                  <a:tcPr marL="90000" marR="90000" marT="46759" marB="46759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18413CD9-526E-4401-BB77-27AAB9DB6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Conflicting </a:t>
            </a:r>
            <a:r>
              <a:rPr lang="en-GB" altLang="en-US" dirty="0"/>
              <a:t>Operations</a:t>
            </a:r>
            <a:endParaRPr lang="en-US" altLang="zh-TW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en-US" dirty="0"/>
              <a:t>Precedence Graph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en-US" dirty="0"/>
              <a:t>Create a Precedence Graph:</a:t>
            </a:r>
          </a:p>
          <a:p>
            <a:pPr lvl="1"/>
            <a:r>
              <a:rPr lang="en-US" altLang="en-US" dirty="0"/>
              <a:t>Create a node for each transaction</a:t>
            </a:r>
          </a:p>
          <a:p>
            <a:pPr lvl="1"/>
            <a:r>
              <a:rPr lang="en-US" altLang="en-US" dirty="0"/>
              <a:t>Search for any conflicting operations as shown in previous page and add an edge for each conflicting pair.</a:t>
            </a:r>
          </a:p>
          <a:p>
            <a:pPr>
              <a:buFont typeface="Wingdings" pitchFamily="2" charset="2"/>
              <a:buChar char="Ø"/>
            </a:pPr>
            <a:r>
              <a:rPr lang="en-US" altLang="en-US" dirty="0"/>
              <a:t>If the precedence graph contains a cycle, it is not conflict serializable.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4351A1D5-6B61-4EC4-9B02-E5415304AF6D}" type="slidenum">
              <a:rPr lang="zh-TW" altLang="en-US" smtClean="0"/>
              <a:t>23</a:t>
            </a:fld>
            <a:endParaRPr lang="zh-TW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Precedence Graph – Example 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Consider the schedule S1:   </a:t>
            </a:r>
            <a:br>
              <a:rPr lang="en-US" altLang="zh-TW" dirty="0"/>
            </a:br>
            <a:endParaRPr lang="en-US" altLang="zh-TW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308" y="2285483"/>
            <a:ext cx="7451572" cy="445059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945"/>
            <a:ext cx="5538470" cy="4422775"/>
          </a:xfrm>
        </p:spPr>
        <p:txBody>
          <a:bodyPr>
            <a:normAutofit fontScale="60000" lnSpcReduction="20000"/>
          </a:bodyPr>
          <a:lstStyle/>
          <a:p>
            <a:r>
              <a:rPr lang="en-GB" sz="3000" dirty="0"/>
              <a:t>Consider the schedule (execution sequence from left to right) as:</a:t>
            </a:r>
            <a:endParaRPr lang="en-US" sz="3000" dirty="0"/>
          </a:p>
          <a:p>
            <a:r>
              <a:rPr lang="en-GB" sz="3000" b="1" dirty="0"/>
              <a:t>read(T1, X), write(T2, X), write(T2, X), write(T2, Y),  read(T1, Y), read(T2, Y), read(T1, Y)</a:t>
            </a:r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i="1" dirty="0"/>
          </a:p>
          <a:p>
            <a:pPr marL="0" indent="0">
              <a:buNone/>
            </a:pPr>
            <a:r>
              <a:rPr lang="en-US" sz="3000" i="1" dirty="0"/>
              <a:t>Consider every combination of Read-Write, Write-Read and Write-Write pairs.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4351A1D5-6B61-4EC4-9B02-E5415304AF6D}" type="slidenum">
              <a:rPr lang="zh-TW" altLang="en-US" smtClean="0"/>
              <a:t>25</a:t>
            </a:fld>
            <a:endParaRPr lang="zh-TW" alt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en-US" altLang="zh-TW" dirty="0"/>
              <a:t>Precedence Graph – Example 2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187" y="3101538"/>
            <a:ext cx="3199395" cy="24599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826" y="3021286"/>
            <a:ext cx="3418657" cy="11885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73595" y="4453890"/>
            <a:ext cx="45281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15" dirty="0">
                <a:effectLst/>
                <a:ea typeface="Times New Roman" panose="02020603050405020304" pitchFamily="18" charset="0"/>
              </a:rPr>
              <a:t>Since the graph contains a </a:t>
            </a:r>
            <a:r>
              <a:rPr lang="en-GB" sz="1800" b="1" u="sng" spc="-15" dirty="0">
                <a:effectLst/>
                <a:highlight>
                  <a:srgbClr val="FFFF00"/>
                </a:highlight>
                <a:ea typeface="Times New Roman" panose="02020603050405020304" pitchFamily="18" charset="0"/>
              </a:rPr>
              <a:t>Cycle</a:t>
            </a:r>
            <a:r>
              <a:rPr lang="en-GB" sz="1800" spc="-15" dirty="0">
                <a:effectLst/>
                <a:ea typeface="Times New Roman" panose="02020603050405020304" pitchFamily="18" charset="0"/>
              </a:rPr>
              <a:t>, so the schedule is</a:t>
            </a:r>
            <a:r>
              <a:rPr lang="en-GB" sz="1800" u="sng" spc="-15" dirty="0">
                <a:effectLst/>
                <a:ea typeface="Times New Roman" panose="02020603050405020304" pitchFamily="18" charset="0"/>
              </a:rPr>
              <a:t> </a:t>
            </a:r>
            <a:r>
              <a:rPr lang="en-GB" sz="1800" b="1" u="sng" spc="-15" dirty="0">
                <a:effectLst/>
                <a:highlight>
                  <a:srgbClr val="FFFF00"/>
                </a:highlight>
                <a:ea typeface="Times New Roman" panose="02020603050405020304" pitchFamily="18" charset="0"/>
              </a:rPr>
              <a:t>not conflict serializable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172960" y="2376805"/>
            <a:ext cx="39827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spc="-15" dirty="0">
                <a:effectLst/>
                <a:ea typeface="Times New Roman" panose="02020603050405020304" pitchFamily="18" charset="0"/>
              </a:rPr>
              <a:t>The precedence graph is: 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Recoverability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zh-TW" dirty="0"/>
              <a:t>Serializability identifies schedules that maintain database consistency, assuming no transaction fails. </a:t>
            </a:r>
          </a:p>
          <a:p>
            <a:pPr>
              <a:buFont typeface="Wingdings" pitchFamily="2" charset="2"/>
              <a:buChar char="Ø"/>
            </a:pPr>
            <a:r>
              <a:rPr lang="en-US" altLang="zh-TW" dirty="0"/>
              <a:t>If transaction fails, atomicity requires effects of transaction to be rolled back (undone). </a:t>
            </a:r>
          </a:p>
          <a:p>
            <a:pPr>
              <a:buFont typeface="Wingdings" pitchFamily="2" charset="2"/>
              <a:buChar char="Ø"/>
            </a:pPr>
            <a:r>
              <a:rPr lang="en-US" altLang="zh-TW" dirty="0"/>
              <a:t>Durability states that once transaction commits, its changes cannot be rolled back.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26</a:t>
            </a:fld>
            <a:endParaRPr lang="zh-TW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en-US" dirty="0"/>
              <a:t>Recoverable Schedule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097280" y="1845945"/>
            <a:ext cx="10058400" cy="416369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3000" dirty="0"/>
              <a:t>A schedule where, for each pair of transactions T</a:t>
            </a:r>
            <a:r>
              <a:rPr lang="en-US" sz="3000" baseline="-25000" dirty="0"/>
              <a:t>i</a:t>
            </a:r>
            <a:r>
              <a:rPr lang="en-US" sz="3000" dirty="0"/>
              <a:t> and </a:t>
            </a:r>
            <a:r>
              <a:rPr lang="en-US" sz="3000" dirty="0" err="1"/>
              <a:t>T</a:t>
            </a:r>
            <a:r>
              <a:rPr lang="en-US" sz="3000" baseline="-25000" dirty="0" err="1"/>
              <a:t>j</a:t>
            </a:r>
            <a:r>
              <a:rPr lang="en-US" sz="3000" dirty="0"/>
              <a:t>, if </a:t>
            </a:r>
            <a:r>
              <a:rPr lang="en-US" sz="3000" dirty="0" err="1"/>
              <a:t>T</a:t>
            </a:r>
            <a:r>
              <a:rPr lang="en-US" sz="3000" baseline="-25000" dirty="0" err="1"/>
              <a:t>j</a:t>
            </a:r>
            <a:r>
              <a:rPr lang="en-US" sz="3000" dirty="0"/>
              <a:t> reads a data item previously written by T</a:t>
            </a:r>
            <a:r>
              <a:rPr lang="en-US" sz="3000" baseline="-25000" dirty="0"/>
              <a:t>i</a:t>
            </a:r>
            <a:r>
              <a:rPr lang="en-US" sz="3000" dirty="0"/>
              <a:t>, then the commit operation of T</a:t>
            </a:r>
            <a:r>
              <a:rPr lang="en-US" sz="3000" baseline="-25000" dirty="0"/>
              <a:t>i</a:t>
            </a:r>
            <a:r>
              <a:rPr lang="en-US" sz="3000" dirty="0"/>
              <a:t> precedes the commit operation of </a:t>
            </a:r>
            <a:r>
              <a:rPr lang="en-US" sz="3000" dirty="0" err="1"/>
              <a:t>T</a:t>
            </a:r>
            <a:r>
              <a:rPr lang="en-US" sz="3000" baseline="-25000" dirty="0" err="1"/>
              <a:t>j</a:t>
            </a:r>
            <a:r>
              <a:rPr lang="en-US" sz="3000" dirty="0"/>
              <a:t>.</a:t>
            </a:r>
          </a:p>
          <a:p>
            <a:pPr lvl="1"/>
            <a:r>
              <a:rPr lang="en-US" altLang="zh-TW" sz="2600" dirty="0"/>
              <a:t>For example (execution from left to right)</a:t>
            </a:r>
            <a:endParaRPr lang="en-US" altLang="zh-TW" sz="4800" b="1" dirty="0"/>
          </a:p>
          <a:p>
            <a:pPr lvl="1"/>
            <a:endParaRPr lang="en-US" altLang="zh-TW" sz="2600" dirty="0"/>
          </a:p>
          <a:p>
            <a:pPr marL="384175" lvl="2" indent="0">
              <a:buNone/>
            </a:pPr>
            <a:r>
              <a:rPr lang="en-US" altLang="zh-TW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	</a:t>
            </a:r>
            <a:r>
              <a:rPr lang="en-US" altLang="zh-TW" sz="259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lang="en-US" altLang="zh-TW" sz="2595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altLang="zh-TW" sz="259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(x), </a:t>
            </a:r>
            <a:r>
              <a:rPr lang="en-US" altLang="zh-TW" sz="2595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US" altLang="zh-TW" sz="2595" b="1" baseline="-25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lang="en-US" altLang="zh-TW" sz="259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(x), C</a:t>
            </a:r>
            <a:r>
              <a:rPr lang="en-US" altLang="zh-TW" sz="2595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altLang="zh-TW" sz="259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altLang="zh-TW" sz="2595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zh-TW" sz="2595" b="1" baseline="-25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endParaRPr lang="en-US" altLang="zh-TW" sz="4800" b="1" baseline="-25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/>
            <a:endParaRPr lang="en-US" altLang="zh-TW" dirty="0"/>
          </a:p>
          <a:p>
            <a:r>
              <a:rPr lang="en-US" altLang="zh-TW" sz="3025" i="1" dirty="0"/>
              <a:t>Once a transaction T is committed, it should never be necessary to rollback.</a:t>
            </a:r>
          </a:p>
          <a:p>
            <a:endParaRPr lang="en-US" dirty="0"/>
          </a:p>
          <a:p>
            <a:pPr lvl="1"/>
            <a:endParaRPr lang="en-US" altLang="zh-TW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27</a:t>
            </a:fld>
            <a:endParaRPr lang="zh-TW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1 – R</a:t>
            </a:r>
            <a:r>
              <a:rPr lang="en-US" dirty="0"/>
              <a:t>ecoverable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9276430" cy="4023360"/>
          </a:xfrm>
        </p:spPr>
        <p:txBody>
          <a:bodyPr/>
          <a:lstStyle/>
          <a:p>
            <a:r>
              <a:rPr lang="en-US" dirty="0"/>
              <a:t>This schedule is recoverable:</a:t>
            </a:r>
          </a:p>
          <a:p>
            <a:r>
              <a:rPr lang="en-US" dirty="0"/>
              <a:t>Since </a:t>
            </a:r>
            <a:r>
              <a:rPr lang="pl-PL" dirty="0"/>
              <a:t>W</a:t>
            </a:r>
            <a:r>
              <a:rPr lang="pl-PL" baseline="-25000" dirty="0"/>
              <a:t>i</a:t>
            </a:r>
            <a:r>
              <a:rPr lang="pl-PL" dirty="0"/>
              <a:t>(x), R</a:t>
            </a:r>
            <a:r>
              <a:rPr lang="pl-PL" baseline="-25000" dirty="0"/>
              <a:t>j</a:t>
            </a:r>
            <a:r>
              <a:rPr lang="pl-PL" dirty="0"/>
              <a:t>(x), C</a:t>
            </a:r>
            <a:r>
              <a:rPr lang="pl-PL" baseline="-25000" dirty="0"/>
              <a:t>i</a:t>
            </a:r>
            <a:r>
              <a:rPr lang="pl-PL" dirty="0"/>
              <a:t>, C</a:t>
            </a:r>
            <a:r>
              <a:rPr lang="pl-PL" baseline="-25000" dirty="0"/>
              <a:t>j</a:t>
            </a:r>
            <a:endParaRPr lang="en-US" baseline="-25000" dirty="0"/>
          </a:p>
          <a:p>
            <a:r>
              <a:rPr lang="en-US" dirty="0"/>
              <a:t>Now, </a:t>
            </a:r>
            <a:r>
              <a:rPr lang="pl-PL" dirty="0"/>
              <a:t>W</a:t>
            </a:r>
            <a:r>
              <a:rPr lang="en-US" baseline="-25000" dirty="0"/>
              <a:t>2</a:t>
            </a:r>
            <a:r>
              <a:rPr lang="pl-PL" dirty="0"/>
              <a:t>(x), R</a:t>
            </a:r>
            <a:r>
              <a:rPr lang="en-US" baseline="-25000" dirty="0"/>
              <a:t>1</a:t>
            </a:r>
            <a:r>
              <a:rPr lang="pl-PL" dirty="0"/>
              <a:t>(x), C</a:t>
            </a:r>
            <a:r>
              <a:rPr lang="en-US" baseline="-25000" dirty="0"/>
              <a:t>2</a:t>
            </a:r>
            <a:r>
              <a:rPr lang="pl-PL" dirty="0"/>
              <a:t>, C</a:t>
            </a:r>
            <a:r>
              <a:rPr lang="en-US" baseline="-25000" dirty="0"/>
              <a:t>1</a:t>
            </a:r>
            <a:endParaRPr lang="pl-PL" baseline="-25000" dirty="0"/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28</a:t>
            </a:fld>
            <a:endParaRPr lang="zh-TW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990" y="2763520"/>
            <a:ext cx="6776720" cy="30137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NOT R</a:t>
            </a:r>
            <a:r>
              <a:rPr lang="en-US" dirty="0"/>
              <a:t>ecoverable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501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Sometimes a transaction may not execute completely due to a software issue, system crash or hardware failure. In that case, the failed transaction has to be rolled back. </a:t>
            </a:r>
          </a:p>
          <a:p>
            <a:r>
              <a:rPr lang="en-US" dirty="0"/>
              <a:t>But some other transactions may also have used value produced by the failed transaction. So we also have to roll back those transactions.</a:t>
            </a:r>
          </a:p>
          <a:p>
            <a:r>
              <a:rPr lang="en-US" altLang="zh-TW" dirty="0"/>
              <a:t>However, once a transaction commits, its changes cannot be rolled back.</a:t>
            </a:r>
          </a:p>
          <a:p>
            <a:pPr algn="ctr"/>
            <a:r>
              <a:rPr lang="zh-CN" altLang="en-US" dirty="0"/>
              <a:t> </a:t>
            </a:r>
            <a:r>
              <a:rPr lang="en-US" altLang="zh-CN" dirty="0"/>
              <a:t>for example </a:t>
            </a:r>
            <a:r>
              <a:rPr lang="pl-PL" altLang="zh-CN" dirty="0" err="1"/>
              <a:t>W</a:t>
            </a:r>
            <a:r>
              <a:rPr lang="pl-PL" altLang="zh-CN" baseline="-25000" dirty="0" err="1"/>
              <a:t>i</a:t>
            </a:r>
            <a:r>
              <a:rPr lang="pl-PL" altLang="zh-CN" dirty="0"/>
              <a:t>(x), </a:t>
            </a:r>
            <a:r>
              <a:rPr lang="pl-PL" altLang="zh-CN" dirty="0" err="1"/>
              <a:t>R</a:t>
            </a:r>
            <a:r>
              <a:rPr lang="pl-PL" altLang="zh-CN" baseline="-25000" dirty="0" err="1"/>
              <a:t>j</a:t>
            </a:r>
            <a:r>
              <a:rPr lang="pl-PL" altLang="zh-CN" dirty="0"/>
              <a:t>(x), </a:t>
            </a:r>
            <a:r>
              <a:rPr lang="pl-PL" altLang="zh-CN" dirty="0" err="1">
                <a:solidFill>
                  <a:srgbClr val="FF0000"/>
                </a:solidFill>
              </a:rPr>
              <a:t>C</a:t>
            </a:r>
            <a:r>
              <a:rPr lang="pl-PL" altLang="zh-CN" baseline="-25000" dirty="0" err="1">
                <a:solidFill>
                  <a:srgbClr val="FF0000"/>
                </a:solidFill>
              </a:rPr>
              <a:t>j</a:t>
            </a:r>
            <a:r>
              <a:rPr lang="pl-PL" altLang="zh-CN" dirty="0">
                <a:solidFill>
                  <a:srgbClr val="FF0000"/>
                </a:solidFill>
              </a:rPr>
              <a:t>, C</a:t>
            </a:r>
            <a:r>
              <a:rPr lang="pl-PL" altLang="zh-CN" baseline="-25000" dirty="0">
                <a:solidFill>
                  <a:srgbClr val="FF0000"/>
                </a:solidFill>
              </a:rPr>
              <a:t>i</a:t>
            </a:r>
            <a:endParaRPr lang="en-US" altLang="zh-CN" baseline="-250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29</a:t>
            </a:fld>
            <a:endParaRPr lang="zh-TW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62" y="1877060"/>
            <a:ext cx="5704523" cy="458272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This schedule is NOT recoverable:</a:t>
            </a:r>
          </a:p>
          <a:p>
            <a:r>
              <a:rPr lang="en-US" dirty="0"/>
              <a:t>Since </a:t>
            </a:r>
            <a:r>
              <a:rPr lang="pl-PL" dirty="0"/>
              <a:t>W</a:t>
            </a:r>
            <a:r>
              <a:rPr lang="pl-PL" baseline="-25000" dirty="0"/>
              <a:t>i</a:t>
            </a:r>
            <a:r>
              <a:rPr lang="pl-PL" dirty="0"/>
              <a:t>(x), R</a:t>
            </a:r>
            <a:r>
              <a:rPr lang="pl-PL" baseline="-25000" dirty="0"/>
              <a:t>j</a:t>
            </a:r>
            <a:r>
              <a:rPr lang="pl-PL" dirty="0"/>
              <a:t>(x), </a:t>
            </a:r>
            <a:r>
              <a:rPr lang="pl-PL" dirty="0" err="1">
                <a:solidFill>
                  <a:srgbClr val="FF0000"/>
                </a:solidFill>
              </a:rPr>
              <a:t>C</a:t>
            </a:r>
            <a:r>
              <a:rPr lang="pl-PL" baseline="-25000" dirty="0" err="1">
                <a:solidFill>
                  <a:srgbClr val="FF0000"/>
                </a:solidFill>
              </a:rPr>
              <a:t>j</a:t>
            </a:r>
            <a:r>
              <a:rPr lang="pl-PL" dirty="0">
                <a:solidFill>
                  <a:srgbClr val="FF0000"/>
                </a:solidFill>
              </a:rPr>
              <a:t>, C</a:t>
            </a:r>
            <a:r>
              <a:rPr lang="pl-PL" baseline="-25000" dirty="0">
                <a:solidFill>
                  <a:srgbClr val="FF0000"/>
                </a:solidFill>
              </a:rPr>
              <a:t>i</a:t>
            </a:r>
            <a:endParaRPr lang="en-US" baseline="-25000" dirty="0">
              <a:solidFill>
                <a:srgbClr val="FF0000"/>
              </a:solidFill>
            </a:endParaRPr>
          </a:p>
          <a:p>
            <a:r>
              <a:rPr lang="en-US" dirty="0"/>
              <a:t>Now, </a:t>
            </a:r>
            <a:r>
              <a:rPr lang="pl-PL" dirty="0"/>
              <a:t>W</a:t>
            </a:r>
            <a:r>
              <a:rPr lang="en-US" baseline="-25000" dirty="0"/>
              <a:t>2</a:t>
            </a:r>
            <a:r>
              <a:rPr lang="pl-PL" dirty="0"/>
              <a:t>(x), R</a:t>
            </a:r>
            <a:r>
              <a:rPr lang="en-US" baseline="-25000" dirty="0"/>
              <a:t>1</a:t>
            </a:r>
            <a:r>
              <a:rPr lang="pl-PL" dirty="0"/>
              <a:t>(x), C</a:t>
            </a:r>
            <a:r>
              <a:rPr lang="en-US" baseline="-25000" dirty="0"/>
              <a:t>1</a:t>
            </a:r>
            <a:r>
              <a:rPr lang="pl-PL" dirty="0"/>
              <a:t>, C</a:t>
            </a:r>
            <a:r>
              <a:rPr lang="en-US" baseline="-25000" dirty="0"/>
              <a:t>2</a:t>
            </a:r>
          </a:p>
          <a:p>
            <a:endParaRPr lang="en-US" dirty="0"/>
          </a:p>
          <a:p>
            <a:r>
              <a:rPr lang="en-US" altLang="zh-CN" sz="3100" dirty="0"/>
              <a:t>This schedule is </a:t>
            </a:r>
            <a:r>
              <a:rPr lang="en-US" altLang="zh-CN" sz="3100" b="1" dirty="0"/>
              <a:t>not recoverable</a:t>
            </a:r>
            <a:r>
              <a:rPr lang="en-US" altLang="zh-CN" sz="3100" dirty="0"/>
              <a:t>. We have </a:t>
            </a:r>
            <a:r>
              <a:rPr lang="en-US" altLang="zh-CN" sz="3100" b="1" dirty="0"/>
              <a:t>W2(X) → R1(X)</a:t>
            </a:r>
            <a:r>
              <a:rPr lang="en-US" altLang="zh-CN" sz="3100" dirty="0"/>
              <a:t> and </a:t>
            </a:r>
            <a:r>
              <a:rPr lang="en-US" altLang="zh-CN" sz="3100" b="1" dirty="0"/>
              <a:t>C1 occurs before C2</a:t>
            </a:r>
            <a:r>
              <a:rPr lang="en-US" altLang="zh-CN" sz="3100" dirty="0"/>
              <a:t> (indeed, T2 aborts). Since </a:t>
            </a:r>
            <a:r>
              <a:rPr lang="en-US" altLang="zh-CN" sz="3100" b="1" dirty="0"/>
              <a:t>T1 reads a value written by T2</a:t>
            </a:r>
            <a:r>
              <a:rPr lang="en-US" altLang="zh-CN" sz="3100" dirty="0"/>
              <a:t>, </a:t>
            </a:r>
            <a:r>
              <a:rPr lang="en-US" altLang="zh-CN" sz="3100" b="1" dirty="0"/>
              <a:t>T1 must not commit until T2 commits</a:t>
            </a:r>
            <a:r>
              <a:rPr lang="en-US" altLang="zh-CN" sz="3100" dirty="0"/>
              <a:t>. When </a:t>
            </a:r>
            <a:r>
              <a:rPr lang="en-US" altLang="zh-CN" sz="3100" b="1" dirty="0"/>
              <a:t>T2 aborts</a:t>
            </a:r>
            <a:r>
              <a:rPr lang="en-US" altLang="zh-CN" sz="3100" dirty="0"/>
              <a:t>, </a:t>
            </a:r>
            <a:r>
              <a:rPr lang="en-US" altLang="zh-CN" sz="3100" b="1" dirty="0"/>
              <a:t>T1 should also be rolled back</a:t>
            </a:r>
            <a:r>
              <a:rPr lang="en-US" altLang="zh-CN" sz="3100" dirty="0"/>
              <a:t> (cascading rollback), but </a:t>
            </a:r>
            <a:r>
              <a:rPr lang="en-US" altLang="zh-CN" sz="3100" b="1" dirty="0"/>
              <a:t>T1 has already committed</a:t>
            </a:r>
            <a:r>
              <a:rPr lang="en-US" altLang="zh-CN" sz="3100" dirty="0"/>
              <a:t>, so recovery is impossible without violating atomicity. Hence, the schedule is not recoverable.</a:t>
            </a:r>
            <a:endParaRPr lang="pl-PL" sz="31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30</a:t>
            </a:fld>
            <a:endParaRPr lang="zh-TW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823" y="2051506"/>
            <a:ext cx="5295900" cy="399732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18E9C32-70A2-417C-B754-A2F71E4AD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en-US" altLang="en-US" dirty="0"/>
              <a:t>Example 2 – NOT R</a:t>
            </a:r>
            <a:r>
              <a:rPr lang="en-US" dirty="0"/>
              <a:t>ecoverable Schedule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More Examples</a:t>
            </a:r>
            <a:endParaRPr lang="en-US" altLang="zh-TW" dirty="0">
              <a:solidFill>
                <a:schemeClr val="folHlink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9360" y="1828800"/>
            <a:ext cx="8786495" cy="43656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lang="en-US" altLang="zh-TW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lang="en-US" altLang="zh-TW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r</a:t>
            </a:r>
            <a:r>
              <a:rPr lang="en-US" altLang="zh-TW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TW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(X); r</a:t>
            </a:r>
            <a:r>
              <a:rPr lang="en-US" altLang="zh-TW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TW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(X); w</a:t>
            </a:r>
            <a:r>
              <a:rPr lang="en-US" altLang="zh-TW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TW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(X); r</a:t>
            </a:r>
            <a:r>
              <a:rPr lang="en-US" altLang="zh-TW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TW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(Y); w</a:t>
            </a:r>
            <a:r>
              <a:rPr lang="en-US" altLang="zh-TW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TW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(X); c</a:t>
            </a:r>
            <a:r>
              <a:rPr lang="en-US" altLang="zh-TW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zh-TW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; w</a:t>
            </a:r>
            <a:r>
              <a:rPr lang="en-US" altLang="zh-TW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TW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(Y); c</a:t>
            </a:r>
            <a:r>
              <a:rPr lang="en-US" altLang="zh-TW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TW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br>
              <a:rPr lang="en-US" altLang="zh-TW" dirty="0"/>
            </a:br>
            <a:endParaRPr lang="en-US" altLang="zh-TW" dirty="0"/>
          </a:p>
        </p:txBody>
      </p:sp>
      <p:sp>
        <p:nvSpPr>
          <p:cNvPr id="7172" name="Text Box 8"/>
          <p:cNvSpPr txBox="1">
            <a:spLocks noChangeArrowheads="1"/>
          </p:cNvSpPr>
          <p:nvPr/>
        </p:nvSpPr>
        <p:spPr bwMode="auto">
          <a:xfrm>
            <a:off x="1604010" y="2500313"/>
            <a:ext cx="80645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solidFill>
                  <a:srgbClr val="009900"/>
                </a:solidFill>
              </a:rPr>
              <a:t>: recoverable </a:t>
            </a:r>
            <a:r>
              <a:rPr lang="en-US" altLang="zh-TW" sz="1800" i="1" dirty="0">
                <a:solidFill>
                  <a:srgbClr val="009900"/>
                </a:solidFill>
              </a:rPr>
              <a:t>(since there is no W</a:t>
            </a:r>
            <a:r>
              <a:rPr lang="en-US" altLang="zh-TW" sz="1800" i="1" baseline="-25000" dirty="0">
                <a:solidFill>
                  <a:srgbClr val="009900"/>
                </a:solidFill>
              </a:rPr>
              <a:t>i</a:t>
            </a:r>
            <a:r>
              <a:rPr lang="en-US" altLang="zh-TW" sz="1800" i="1" dirty="0">
                <a:solidFill>
                  <a:srgbClr val="009900"/>
                </a:solidFill>
              </a:rPr>
              <a:t>(x), </a:t>
            </a:r>
            <a:r>
              <a:rPr lang="en-US" altLang="zh-TW" sz="1800" i="1" dirty="0" err="1">
                <a:solidFill>
                  <a:srgbClr val="009900"/>
                </a:solidFill>
              </a:rPr>
              <a:t>R</a:t>
            </a:r>
            <a:r>
              <a:rPr lang="en-US" altLang="zh-TW" sz="1800" i="1" baseline="-25000" dirty="0" err="1">
                <a:solidFill>
                  <a:srgbClr val="009900"/>
                </a:solidFill>
              </a:rPr>
              <a:t>j</a:t>
            </a:r>
            <a:r>
              <a:rPr lang="en-US" altLang="zh-TW" sz="1800" i="1" dirty="0">
                <a:solidFill>
                  <a:srgbClr val="009900"/>
                </a:solidFill>
              </a:rPr>
              <a:t>(x) pair, no rollback operations) 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1087469" y="3290569"/>
            <a:ext cx="7977188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S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b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: r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(X); w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(X); r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(X); r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(Y); w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(X); c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; c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7174" name="Freeform 10"/>
          <p:cNvSpPr/>
          <p:nvPr/>
        </p:nvSpPr>
        <p:spPr bwMode="auto">
          <a:xfrm>
            <a:off x="3221069" y="3731894"/>
            <a:ext cx="1295400" cy="228600"/>
          </a:xfrm>
          <a:custGeom>
            <a:avLst/>
            <a:gdLst>
              <a:gd name="T0" fmla="*/ 0 w 816"/>
              <a:gd name="T1" fmla="*/ 0 h 192"/>
              <a:gd name="T2" fmla="*/ 0 w 816"/>
              <a:gd name="T3" fmla="*/ 2147483646 h 192"/>
              <a:gd name="T4" fmla="*/ 2147483646 w 816"/>
              <a:gd name="T5" fmla="*/ 2147483646 h 192"/>
              <a:gd name="T6" fmla="*/ 2147483646 w 816"/>
              <a:gd name="T7" fmla="*/ 0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92"/>
              <a:gd name="T14" fmla="*/ 816 w 816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92">
                <a:moveTo>
                  <a:pt x="0" y="0"/>
                </a:moveTo>
                <a:lnTo>
                  <a:pt x="0" y="192"/>
                </a:lnTo>
                <a:lnTo>
                  <a:pt x="816" y="192"/>
                </a:lnTo>
                <a:lnTo>
                  <a:pt x="816" y="0"/>
                </a:lnTo>
              </a:path>
            </a:pathLst>
          </a:custGeom>
          <a:noFill/>
          <a:ln w="22225" cap="rnd">
            <a:solidFill>
              <a:schemeClr val="hlink"/>
            </a:solidFill>
            <a:prstDash val="sysDot"/>
            <a:miter lim="800000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5" name="Text Box 11"/>
          <p:cNvSpPr txBox="1">
            <a:spLocks noChangeArrowheads="1"/>
          </p:cNvSpPr>
          <p:nvPr/>
        </p:nvSpPr>
        <p:spPr bwMode="auto">
          <a:xfrm>
            <a:off x="1462119" y="3976369"/>
            <a:ext cx="853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solidFill>
                  <a:srgbClr val="009900"/>
                </a:solidFill>
              </a:rPr>
              <a:t>: not recoverable </a:t>
            </a:r>
            <a:r>
              <a:rPr lang="en-US" altLang="zh-TW" sz="1800" i="1" dirty="0">
                <a:solidFill>
                  <a:srgbClr val="009900"/>
                </a:solidFill>
              </a:rPr>
              <a:t>(T1 should commit before T2, now T2 commits before T1)</a:t>
            </a:r>
            <a:endParaRPr lang="en-US" altLang="zh-TW" sz="2000" i="1" dirty="0">
              <a:solidFill>
                <a:srgbClr val="009900"/>
              </a:solidFill>
            </a:endParaRPr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1087469" y="4843203"/>
            <a:ext cx="7898316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S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c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: r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(X); </a:t>
            </a:r>
            <a:r>
              <a:rPr kumimoji="1" lang="en-US" altLang="zh-TW" sz="2800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w</a:t>
            </a:r>
            <a:r>
              <a:rPr kumimoji="1" lang="en-US" altLang="zh-TW" sz="2800" u="sng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kumimoji="1" lang="en-US" altLang="zh-TW" sz="2800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(X)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; r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(Y); </a:t>
            </a:r>
            <a:r>
              <a:rPr kumimoji="1" lang="en-US" altLang="zh-TW" sz="2800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r</a:t>
            </a:r>
            <a:r>
              <a:rPr kumimoji="1" lang="en-US" altLang="zh-TW" sz="2800" u="sng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kumimoji="1" lang="en-US" altLang="zh-TW" sz="2800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(X)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; w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2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(X); w</a:t>
            </a:r>
            <a:r>
              <a:rPr kumimoji="1" lang="en-US" altLang="zh-TW" sz="2800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(Y); </a:t>
            </a:r>
            <a:r>
              <a:rPr kumimoji="1" lang="en-US" altLang="zh-TW" sz="2800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c</a:t>
            </a:r>
            <a:r>
              <a:rPr kumimoji="1" lang="en-US" altLang="zh-TW" sz="2800" u="sng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1</a:t>
            </a:r>
            <a:r>
              <a:rPr kumimoji="1" lang="en-US" altLang="zh-TW" sz="28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; </a:t>
            </a:r>
            <a:r>
              <a:rPr kumimoji="1" lang="en-US" altLang="zh-TW" sz="2800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c</a:t>
            </a:r>
            <a:r>
              <a:rPr kumimoji="1" lang="en-US" altLang="zh-TW" sz="2800" u="sng" baseline="-25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2</a:t>
            </a:r>
            <a:endParaRPr kumimoji="1" lang="en-US" altLang="zh-TW" sz="2800" u="sng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7179" name="Text Box 17"/>
          <p:cNvSpPr txBox="1">
            <a:spLocks noChangeArrowheads="1"/>
          </p:cNvSpPr>
          <p:nvPr/>
        </p:nvSpPr>
        <p:spPr bwMode="auto">
          <a:xfrm>
            <a:off x="1462119" y="5376603"/>
            <a:ext cx="7993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PMingLiU" panose="02020500000000000000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009900"/>
                </a:solidFill>
              </a:rPr>
              <a:t>: recoverable </a:t>
            </a:r>
            <a:r>
              <a:rPr lang="en-US" altLang="zh-TW" sz="1800" i="1">
                <a:solidFill>
                  <a:srgbClr val="009900"/>
                </a:solidFill>
              </a:rPr>
              <a:t>(T1 should commit before T2, now satisfied)</a:t>
            </a:r>
            <a:endParaRPr lang="en-US" altLang="zh-TW" sz="2000" b="1">
              <a:solidFill>
                <a:srgbClr val="0099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31</a:t>
            </a:fld>
            <a:endParaRPr lang="zh-TW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HK" dirty="0"/>
              <a:t>Reference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r>
              <a:rPr lang="en-GB" altLang="zh-TW" dirty="0"/>
              <a:t>Chapter 22 of Connolly, T and </a:t>
            </a:r>
            <a:r>
              <a:rPr lang="en-GB" altLang="zh-TW" dirty="0" err="1"/>
              <a:t>Begg</a:t>
            </a:r>
            <a:r>
              <a:rPr lang="en-GB" altLang="zh-TW" dirty="0"/>
              <a:t>, C, Database Systems: A practical Approach to Design, Implementation, and Management (6th ed.), Boston: Pearson Education.</a:t>
            </a:r>
            <a:endParaRPr lang="zh-TW" altLang="en-US" dirty="0"/>
          </a:p>
          <a:p>
            <a:endParaRPr lang="zh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A1D5-6B61-4EC4-9B02-E5415304AF6D}" type="slidenum">
              <a:rPr lang="zh-TW" altLang="en-US" smtClean="0"/>
              <a:t>32</a:t>
            </a:fld>
            <a:endParaRPr lang="zh-TW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9aa39fc-8c51-44e3-bef3-2281831600ef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f983167-7e00-4f49-9f8c-aa07408c6fd6}"/>
</p:tagLst>
</file>

<file path=ppt/theme/theme1.xml><?xml version="1.0" encoding="utf-8"?>
<a:theme xmlns:a="http://schemas.openxmlformats.org/drawingml/2006/main" name="回顧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回顧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1978</Words>
  <Application>Microsoft Macintosh PowerPoint</Application>
  <PresentationFormat>Widescreen</PresentationFormat>
  <Paragraphs>251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Tahoma</vt:lpstr>
      <vt:lpstr>Times New Roman</vt:lpstr>
      <vt:lpstr>Wingdings</vt:lpstr>
      <vt:lpstr>回顧</vt:lpstr>
      <vt:lpstr>Lecture 5</vt:lpstr>
      <vt:lpstr>Content</vt:lpstr>
      <vt:lpstr>Background</vt:lpstr>
      <vt:lpstr>Transaction Support</vt:lpstr>
      <vt:lpstr>Transaction Support</vt:lpstr>
      <vt:lpstr>Properties of Transactions </vt:lpstr>
      <vt:lpstr>Need for Concurrency Control</vt:lpstr>
      <vt:lpstr>Lost Update Problem</vt:lpstr>
      <vt:lpstr>Lost Update Problem</vt:lpstr>
      <vt:lpstr>Lost Update Problem (Solution)</vt:lpstr>
      <vt:lpstr>Uncommitted Dependency Problem</vt:lpstr>
      <vt:lpstr>Uncommitted Dependency Problem</vt:lpstr>
      <vt:lpstr>Uncommitted Dependency Problem (Solution)</vt:lpstr>
      <vt:lpstr>Inconsistent Analysis Problem</vt:lpstr>
      <vt:lpstr>Inconsistent Analysis Problem</vt:lpstr>
      <vt:lpstr>Inconsistent Analysis Problem</vt:lpstr>
      <vt:lpstr>Serializability</vt:lpstr>
      <vt:lpstr>PowerPoint Presentation</vt:lpstr>
      <vt:lpstr>PowerPoint Presentation</vt:lpstr>
      <vt:lpstr>Non-conflicting Operations</vt:lpstr>
      <vt:lpstr>Non-conflicting Operations</vt:lpstr>
      <vt:lpstr>Conflicting Operations</vt:lpstr>
      <vt:lpstr>Precedence Graph</vt:lpstr>
      <vt:lpstr>Precedence Graph – Example 1</vt:lpstr>
      <vt:lpstr>Precedence Graph – Example 2</vt:lpstr>
      <vt:lpstr>Recoverability</vt:lpstr>
      <vt:lpstr>Recoverable Schedule</vt:lpstr>
      <vt:lpstr>Example 1 – Recoverable Schedule</vt:lpstr>
      <vt:lpstr>NOT Recoverable Schedule</vt:lpstr>
      <vt:lpstr>Example 2 – NOT Recoverable Schedule</vt:lpstr>
      <vt:lpstr>More Examples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/>
  <cp:lastModifiedBy>zhang tiantian</cp:lastModifiedBy>
  <cp:revision>180</cp:revision>
  <cp:lastPrinted>2026-02-09T07:47:58Z</cp:lastPrinted>
  <dcterms:created xsi:type="dcterms:W3CDTF">2018-09-01T16:57:00Z</dcterms:created>
  <dcterms:modified xsi:type="dcterms:W3CDTF">2026-02-10T18:05:27Z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392FFABDA52D4230B6DEA1CB9E7C0C23</vt:lpwstr>
  </property>
  <property fmtid="{D5CDD505-2E9C-101B-9397-08002B2CF9AE}" pid="3" name="KSOProductBuildVer">
    <vt:lpwstr>2052-11.1.0.10667</vt:lpwstr>
  </property>
</Properties>
</file>